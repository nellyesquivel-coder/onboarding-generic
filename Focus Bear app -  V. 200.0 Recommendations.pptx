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Open Sans"/>
      <p:bold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hr2jEcB97kmeZOJGluT++R7F3bR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7" name="Andrea Cuéllar"/>
  <p:cmAuthor clrIdx="1" id="1" initials="" lastIdx="5" name="Pedro Arteaga"/>
  <p:cmAuthor clrIdx="2" id="2" initials="" lastIdx="1" name="NELLY ESMERALDA ESQUIVEL MOLINA"/>
  <p:cmAuthor clrIdx="3" id="3" initials="" lastIdx="1" name="PEDRO JOSE ARTEAGA PEÑ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bold.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03T17:14:59.114">
    <p:pos x="7094" y="2968"/>
    <p:text>@pedrohd5005@gmail.com could you replicate this issue (maybe assign it to Francisco)? It does sound for me
_Reassigned to pedrohd5005@gmail.com_</p:text>
    <p:extLst>
      <p:ext uri="{C676402C-5697-4E1C-873F-D02D1690AC5C}">
        <p15:threadingInfo timeZoneBias="0"/>
      </p:ext>
      <p:ext uri="http://customooxmlschemas.google.com/">
        <go:slidesCustomData xmlns:go="http://customooxmlschemas.google.com/" commentPostId="AAABvlBD5Co"/>
      </p:ext>
    </p:extLst>
  </p:cm>
  <p:cm authorId="1" idx="1" dt="2026-03-03T17:14:59.114">
    <p:pos x="7094" y="2968"/>
    <p:text>unable to replicate, I will share it with Frank to retest on his computer</p:text>
    <p:extLst>
      <p:ext uri="{C676402C-5697-4E1C-873F-D02D1690AC5C}">
        <p15:threadingInfo timeZoneBias="0">
          <p15:parentCm authorId="0" idx="1"/>
        </p15:threadingInfo>
      </p:ext>
      <p:ext uri="http://customooxmlschemas.google.com/">
        <go:slidesCustomData xmlns:go="http://customooxmlschemas.google.com/" commentPostId="AAAB1UA3vbw"/>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03T18:07:37.811">
    <p:pos x="2623" y="3803"/>
    <p:text>@pedrohd5005@gmail.com is this a known issue?
_Reassigned to pedrohd5005@gmail.com_</p:text>
    <p:extLst>
      <p:ext uri="{C676402C-5697-4E1C-873F-D02D1690AC5C}">
        <p15:threadingInfo timeZoneBias="0"/>
      </p:ext>
      <p:ext uri="http://customooxmlschemas.google.com/">
        <go:slidesCustomData xmlns:go="http://customooxmlschemas.google.com/" commentPostId="AAABvlBD5Ck"/>
      </p:ext>
    </p:extLst>
  </p:cm>
  <p:cm authorId="1" idx="2" dt="2026-03-03T17:15:54.935">
    <p:pos x="2623" y="3803"/>
    <p:text>I will raise this issue</p:text>
    <p:extLst>
      <p:ext uri="{C676402C-5697-4E1C-873F-D02D1690AC5C}">
        <p15:threadingInfo timeZoneBias="0">
          <p15:parentCm authorId="0" idx="2"/>
        </p15:threadingInfo>
      </p:ext>
      <p:ext uri="http://customooxmlschemas.google.com/">
        <go:slidesCustomData xmlns:go="http://customooxmlschemas.google.com/" commentPostId="AAAB1UA3vb0"/>
      </p:ext>
    </p:extLst>
  </p:cm>
  <p:cm authorId="1" idx="3" dt="2026-03-03T18:07:37.811">
    <p:pos x="2623" y="3803"/>
    <p:text>Issue: https://github.com/Focus-Bear/windows-app-v2/issues/1030</p:text>
    <p:extLst>
      <p:ext uri="{C676402C-5697-4E1C-873F-D02D1690AC5C}">
        <p15:threadingInfo timeZoneBias="0">
          <p15:parentCm authorId="0" idx="2"/>
        </p15:threadingInfo>
      </p:ext>
      <p:ext uri="http://customooxmlschemas.google.com/">
        <go:slidesCustomData xmlns:go="http://customooxmlschemas.google.com/" commentPostId="AAAB1UA3vcU"/>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02T16:52:24.275">
    <p:pos x="7706" y="1795"/>
    <p:text>focus session</p:text>
    <p:extLst>
      <p:ext uri="{C676402C-5697-4E1C-873F-D02D1690AC5C}">
        <p15:threadingInfo timeZoneBias="0"/>
      </p:ext>
      <p:ext uri="http://customooxmlschemas.google.com/">
        <go:slidesCustomData xmlns:go="http://customooxmlschemas.google.com/" commentPostId="AAABvlBD5C0"/>
      </p:ext>
    </p:extLst>
  </p:cm>
  <p:cm authorId="0" idx="4" dt="2026-03-02T16:52:40.608">
    <p:pos x="7706" y="1895"/>
    <p:text>focus session</p:text>
    <p:extLst>
      <p:ext uri="{C676402C-5697-4E1C-873F-D02D1690AC5C}">
        <p15:threadingInfo timeZoneBias="0"/>
      </p:ext>
      <p:ext uri="http://customooxmlschemas.google.com/">
        <go:slidesCustomData xmlns:go="http://customooxmlschemas.google.com/" commentPostId="AAABvlBD5C4"/>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3-03T17:18:16.479">
    <p:pos x="7011" y="1953"/>
    <p:text>@pedrohd5005@gmail.com
_Reassigned to pedrohd5005@gmail.com_</p:text>
    <p:extLst>
      <p:ext uri="{C676402C-5697-4E1C-873F-D02D1690AC5C}">
        <p15:threadingInfo timeZoneBias="0"/>
      </p:ext>
      <p:ext uri="http://customooxmlschemas.google.com/">
        <go:slidesCustomData xmlns:go="http://customooxmlschemas.google.com/" commentPostId="AAABvlBD5DA"/>
      </p:ext>
    </p:extLst>
  </p:cm>
  <p:cm authorId="1" idx="4" dt="2026-03-03T17:18:16.479">
    <p:pos x="7011" y="1953"/>
    <p:text>It's expected behavior, because the user can deactivate the blocking feature completely, and they can also add blocked sites. But if the app is deactivated, the blocking is disabled</p:text>
    <p:extLst>
      <p:ext uri="{C676402C-5697-4E1C-873F-D02D1690AC5C}">
        <p15:threadingInfo timeZoneBias="0">
          <p15:parentCm authorId="0" idx="5"/>
        </p15:threadingInfo>
      </p:ext>
      <p:ext uri="http://customooxmlschemas.google.com/">
        <go:slidesCustomData xmlns:go="http://customooxmlschemas.google.com/" commentPostId="AAAB1UA3vb4"/>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3-02T22:24:04.773">
    <p:pos x="6329" y="1000"/>
    <p:text>@nelly.esquivel@catolica.edu.sv what's your recommendation?
_Reassigned to nelly.esquivel@catolica.edu.sv_</p:text>
    <p:extLst>
      <p:ext uri="{C676402C-5697-4E1C-873F-D02D1690AC5C}">
        <p15:threadingInfo timeZoneBias="0"/>
      </p:ext>
      <p:ext uri="http://customooxmlschemas.google.com/">
        <go:slidesCustomData xmlns:go="http://customooxmlschemas.google.com/" commentPostId="AAABvlBD5DE"/>
      </p:ext>
    </p:extLst>
  </p:cm>
  <p:cm authorId="2" idx="1" dt="2026-03-02T22:24:04.773">
    <p:pos x="6329" y="1000"/>
    <p:text>It could be a longer interval, of 10 seconds, and show a summary of the focus and success of the activities carried out with statistics, so that the user feels motivated to continue with the good progress.</p:text>
    <p:extLst>
      <p:ext uri="{C676402C-5697-4E1C-873F-D02D1690AC5C}">
        <p15:threadingInfo timeZoneBias="0">
          <p15:parentCm authorId="0" idx="6"/>
        </p15:threadingInfo>
      </p:ext>
      <p:ext uri="http://customooxmlschemas.google.com/">
        <go:slidesCustomData xmlns:go="http://customooxmlschemas.google.com/" commentPostId="AAAB1SJXKoA"/>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3-03T17:53:17.383">
    <p:pos x="7072" y="2481"/>
    <p:text>@pedrohd5005@gmail.com
_Reassigned to pedrohd5005@gmail.com_</p:text>
    <p:extLst>
      <p:ext uri="{C676402C-5697-4E1C-873F-D02D1690AC5C}">
        <p15:threadingInfo timeZoneBias="0"/>
      </p:ext>
      <p:ext uri="http://customooxmlschemas.google.com/">
        <go:slidesCustomData xmlns:go="http://customooxmlschemas.google.com/" commentPostId="AAABvlBD5DI"/>
      </p:ext>
    </p:extLst>
  </p:cm>
  <p:cm authorId="1" idx="5" dt="2026-03-03T17:18:46.247">
    <p:pos x="7072" y="2481"/>
    <p:text>I will raise this issue as well</p:text>
    <p:extLst>
      <p:ext uri="{C676402C-5697-4E1C-873F-D02D1690AC5C}">
        <p15:threadingInfo timeZoneBias="0">
          <p15:parentCm authorId="0" idx="7"/>
        </p15:threadingInfo>
      </p:ext>
      <p:ext uri="http://customooxmlschemas.google.com/">
        <go:slidesCustomData xmlns:go="http://customooxmlschemas.google.com/" commentPostId="AAAB1UA3vb8"/>
      </p:ext>
    </p:extLst>
  </p:cm>
  <p:cm authorId="3" idx="1" dt="2026-03-03T17:53:17.383">
    <p:pos x="7072" y="2481"/>
    <p:text>Issue: https://github.com/Focus-Bear/windows-app-v2/issues/1030</p:text>
    <p:extLst>
      <p:ext uri="{C676402C-5697-4E1C-873F-D02D1690AC5C}">
        <p15:threadingInfo timeZoneBias="0">
          <p15:parentCm authorId="0" idx="7"/>
        </p15:threadingInfo>
      </p:ext>
      <p:ext uri="http://customooxmlschemas.google.com/">
        <go:slidesCustomData xmlns:go="http://customooxmlschemas.google.com/" commentPostId="AAAB1UA3vcM"/>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02C"/>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25.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1.xml"/><Relationship Id="rId4" Type="http://schemas.openxmlformats.org/officeDocument/2006/relationships/image" Target="../media/image20.png"/><Relationship Id="rId5" Type="http://schemas.openxmlformats.org/officeDocument/2006/relationships/image" Target="../media/image14.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omments" Target="../comments/comment3.xml"/><Relationship Id="rId4" Type="http://schemas.openxmlformats.org/officeDocument/2006/relationships/image" Target="../media/image28.png"/><Relationship Id="rId5"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14.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omments" Target="../comments/comment4.xml"/><Relationship Id="rId4" Type="http://schemas.openxmlformats.org/officeDocument/2006/relationships/image" Target="../media/image16.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omments" Target="../comments/comment5.xml"/><Relationship Id="rId4" Type="http://schemas.openxmlformats.org/officeDocument/2006/relationships/image" Target="../media/image27.png"/><Relationship Id="rId5"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omments" Target="../comments/comment6.xml"/><Relationship Id="rId4" Type="http://schemas.openxmlformats.org/officeDocument/2006/relationships/image" Target="../media/image24.png"/><Relationship Id="rId5" Type="http://schemas.openxmlformats.org/officeDocument/2006/relationships/image" Target="../media/image14.png"/><Relationship Id="rId6"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902C"/>
        </a:solidFill>
      </p:bgPr>
    </p:bg>
    <p:spTree>
      <p:nvGrpSpPr>
        <p:cNvPr id="83" name="Shape 83"/>
        <p:cNvGrpSpPr/>
        <p:nvPr/>
      </p:nvGrpSpPr>
      <p:grpSpPr>
        <a:xfrm>
          <a:off x="0" y="0"/>
          <a:ext cx="0" cy="0"/>
          <a:chOff x="0" y="0"/>
          <a:chExt cx="0" cy="0"/>
        </a:xfrm>
      </p:grpSpPr>
      <p:sp>
        <p:nvSpPr>
          <p:cNvPr id="84" name="Google Shape;84;p1"/>
          <p:cNvSpPr/>
          <p:nvPr/>
        </p:nvSpPr>
        <p:spPr>
          <a:xfrm>
            <a:off x="6866270" y="1028700"/>
            <a:ext cx="5215713" cy="4114800"/>
          </a:xfrm>
          <a:custGeom>
            <a:rect b="b" l="l" r="r" t="t"/>
            <a:pathLst>
              <a:path extrusionOk="0" h="4114800" w="5215713">
                <a:moveTo>
                  <a:pt x="0" y="0"/>
                </a:moveTo>
                <a:lnTo>
                  <a:pt x="5215713" y="0"/>
                </a:lnTo>
                <a:lnTo>
                  <a:pt x="5215713" y="4114800"/>
                </a:lnTo>
                <a:lnTo>
                  <a:pt x="0" y="4114800"/>
                </a:lnTo>
                <a:lnTo>
                  <a:pt x="0" y="0"/>
                </a:lnTo>
                <a:close/>
              </a:path>
            </a:pathLst>
          </a:custGeom>
          <a:blipFill rotWithShape="1">
            <a:blip r:embed="rId3">
              <a:alphaModFix/>
            </a:blip>
            <a:stretch>
              <a:fillRect b="-297459" l="-145359" r="-139301" t="-21108"/>
            </a:stretch>
          </a:blipFill>
          <a:ln>
            <a:noFill/>
          </a:ln>
        </p:spPr>
      </p:sp>
      <p:sp>
        <p:nvSpPr>
          <p:cNvPr id="85" name="Google Shape;85;p1"/>
          <p:cNvSpPr txBox="1"/>
          <p:nvPr/>
        </p:nvSpPr>
        <p:spPr>
          <a:xfrm>
            <a:off x="5372449" y="6297422"/>
            <a:ext cx="8203354" cy="163338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705" u="none" cap="none" strike="noStrike">
                <a:solidFill>
                  <a:srgbClr val="000000"/>
                </a:solidFill>
                <a:latin typeface="Open Sans"/>
                <a:ea typeface="Open Sans"/>
                <a:cs typeface="Open Sans"/>
                <a:sym typeface="Open Sans"/>
              </a:rPr>
              <a:t>Windows V. 200.0</a:t>
            </a:r>
            <a:endParaRPr/>
          </a:p>
          <a:p>
            <a:pPr indent="0" lvl="0" marL="0" marR="0" rtl="0" algn="ctr">
              <a:lnSpc>
                <a:spcPct val="140000"/>
              </a:lnSpc>
              <a:spcBef>
                <a:spcPts val="0"/>
              </a:spcBef>
              <a:spcAft>
                <a:spcPts val="0"/>
              </a:spcAft>
              <a:buNone/>
            </a:pPr>
            <a:r>
              <a:rPr b="1" i="0" lang="en-US" sz="4705" u="none" cap="none" strike="noStrike">
                <a:solidFill>
                  <a:srgbClr val="000000"/>
                </a:solidFill>
                <a:latin typeface="Open Sans"/>
                <a:ea typeface="Open Sans"/>
                <a:cs typeface="Open Sans"/>
                <a:sym typeface="Open Sans"/>
              </a:rPr>
              <a:t>Recommendations.</a:t>
            </a:r>
            <a:endParaRPr/>
          </a:p>
        </p:txBody>
      </p:sp>
      <p:sp>
        <p:nvSpPr>
          <p:cNvPr id="86" name="Google Shape;86;p1"/>
          <p:cNvSpPr txBox="1"/>
          <p:nvPr/>
        </p:nvSpPr>
        <p:spPr>
          <a:xfrm>
            <a:off x="5372445" y="8433075"/>
            <a:ext cx="7832700" cy="876900"/>
          </a:xfrm>
          <a:prstGeom prst="rect">
            <a:avLst/>
          </a:prstGeom>
          <a:noFill/>
          <a:ln>
            <a:noFill/>
          </a:ln>
        </p:spPr>
        <p:txBody>
          <a:bodyPr anchorCtr="0" anchor="t" bIns="0" lIns="0" spcFirstLastPara="1" rIns="0" wrap="square" tIns="0">
            <a:spAutoFit/>
          </a:bodyPr>
          <a:lstStyle/>
          <a:p>
            <a:pPr indent="0" lvl="0" marL="0" marR="0" rtl="0" algn="ctr">
              <a:lnSpc>
                <a:spcPct val="140033"/>
              </a:lnSpc>
              <a:spcBef>
                <a:spcPts val="0"/>
              </a:spcBef>
              <a:spcAft>
                <a:spcPts val="0"/>
              </a:spcAft>
              <a:buNone/>
            </a:pPr>
            <a:r>
              <a:rPr b="0" i="0" lang="en-US" sz="2373" u="none" cap="none" strike="noStrike">
                <a:solidFill>
                  <a:srgbClr val="000000"/>
                </a:solidFill>
                <a:latin typeface="Open Sans"/>
                <a:ea typeface="Open Sans"/>
                <a:cs typeface="Open Sans"/>
                <a:sym typeface="Open Sans"/>
              </a:rPr>
              <a:t>Nelly Molina</a:t>
            </a:r>
            <a:endParaRPr/>
          </a:p>
          <a:p>
            <a:pPr indent="0" lvl="0" marL="0" marR="0" rtl="0" algn="ctr">
              <a:lnSpc>
                <a:spcPct val="140033"/>
              </a:lnSpc>
              <a:spcBef>
                <a:spcPts val="0"/>
              </a:spcBef>
              <a:spcAft>
                <a:spcPts val="0"/>
              </a:spcAft>
              <a:buNone/>
            </a:pPr>
            <a:r>
              <a:rPr b="0" i="0" lang="en-US" sz="2373" u="none" cap="none" strike="noStrike">
                <a:solidFill>
                  <a:srgbClr val="000000"/>
                </a:solidFill>
                <a:latin typeface="Open Sans"/>
                <a:ea typeface="Open Sans"/>
                <a:cs typeface="Open Sans"/>
                <a:sym typeface="Open Sans"/>
              </a:rPr>
              <a:t>February 27,</a:t>
            </a:r>
            <a:r>
              <a:rPr lang="en-US" sz="2373">
                <a:latin typeface="Open Sans"/>
                <a:ea typeface="Open Sans"/>
                <a:cs typeface="Open Sans"/>
                <a:sym typeface="Open Sans"/>
              </a:rPr>
              <a:t> </a:t>
            </a:r>
            <a:r>
              <a:rPr b="0" i="0" lang="en-US" sz="2373" u="none" cap="none" strike="noStrike">
                <a:solidFill>
                  <a:srgbClr val="000000"/>
                </a:solidFill>
                <a:latin typeface="Open Sans"/>
                <a:ea typeface="Open Sans"/>
                <a:cs typeface="Open Sans"/>
                <a:sym typeface="Open Sans"/>
              </a:rPr>
              <a:t>2026.</a:t>
            </a:r>
            <a:endParaRPr/>
          </a:p>
        </p:txBody>
      </p:sp>
      <p:sp>
        <p:nvSpPr>
          <p:cNvPr id="87" name="Google Shape;87;p1"/>
          <p:cNvSpPr txBox="1"/>
          <p:nvPr/>
        </p:nvSpPr>
        <p:spPr>
          <a:xfrm>
            <a:off x="5743281" y="4602896"/>
            <a:ext cx="7461691"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000000"/>
                </a:solidFill>
                <a:latin typeface="Open Sans"/>
                <a:ea typeface="Open Sans"/>
                <a:cs typeface="Open Sans"/>
                <a:sym typeface="Open Sans"/>
              </a:rPr>
              <a:t>Focus Bear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p:nvPr/>
        </p:nvSpPr>
        <p:spPr>
          <a:xfrm>
            <a:off x="1542470" y="2835001"/>
            <a:ext cx="5215713" cy="4114800"/>
          </a:xfrm>
          <a:custGeom>
            <a:rect b="b" l="l" r="r" t="t"/>
            <a:pathLst>
              <a:path extrusionOk="0" h="4114800" w="5215713">
                <a:moveTo>
                  <a:pt x="0" y="0"/>
                </a:moveTo>
                <a:lnTo>
                  <a:pt x="5215712" y="0"/>
                </a:lnTo>
                <a:lnTo>
                  <a:pt x="5215712" y="4114800"/>
                </a:lnTo>
                <a:lnTo>
                  <a:pt x="0" y="4114800"/>
                </a:lnTo>
                <a:lnTo>
                  <a:pt x="0" y="0"/>
                </a:lnTo>
                <a:close/>
              </a:path>
            </a:pathLst>
          </a:custGeom>
          <a:blipFill rotWithShape="1">
            <a:blip r:embed="rId3">
              <a:alphaModFix/>
            </a:blip>
            <a:stretch>
              <a:fillRect b="-297459" l="-145359" r="-139301" t="-21108"/>
            </a:stretch>
          </a:blipFill>
          <a:ln>
            <a:noFill/>
          </a:ln>
        </p:spPr>
      </p:sp>
      <p:sp>
        <p:nvSpPr>
          <p:cNvPr id="93" name="Google Shape;93;p2"/>
          <p:cNvSpPr txBox="1"/>
          <p:nvPr/>
        </p:nvSpPr>
        <p:spPr>
          <a:xfrm>
            <a:off x="5910606" y="3432720"/>
            <a:ext cx="10715291" cy="3768180"/>
          </a:xfrm>
          <a:prstGeom prst="rect">
            <a:avLst/>
          </a:prstGeom>
          <a:noFill/>
          <a:ln>
            <a:noFill/>
          </a:ln>
        </p:spPr>
        <p:txBody>
          <a:bodyPr anchorCtr="0" anchor="t" bIns="0" lIns="0" spcFirstLastPara="1" rIns="0" wrap="square" tIns="0">
            <a:spAutoFit/>
          </a:bodyPr>
          <a:lstStyle/>
          <a:p>
            <a:pPr indent="0" lvl="0" marL="0" marR="0" rtl="0" algn="ctr">
              <a:lnSpc>
                <a:spcPct val="139995"/>
              </a:lnSpc>
              <a:spcBef>
                <a:spcPts val="0"/>
              </a:spcBef>
              <a:spcAft>
                <a:spcPts val="0"/>
              </a:spcAft>
              <a:buNone/>
            </a:pPr>
            <a:r>
              <a:rPr b="1" i="0" lang="en-US" sz="8046" u="none" cap="none" strike="noStrike">
                <a:solidFill>
                  <a:srgbClr val="000000"/>
                </a:solidFill>
                <a:latin typeface="Open Sans"/>
                <a:ea typeface="Open Sans"/>
                <a:cs typeface="Open Sans"/>
                <a:sym typeface="Open Sans"/>
              </a:rPr>
              <a:t>Comments </a:t>
            </a:r>
            <a:endParaRPr/>
          </a:p>
          <a:p>
            <a:pPr indent="0" lvl="0" marL="0" marR="0" rtl="0" algn="ctr">
              <a:lnSpc>
                <a:spcPct val="140009"/>
              </a:lnSpc>
              <a:spcBef>
                <a:spcPts val="0"/>
              </a:spcBef>
              <a:spcAft>
                <a:spcPts val="0"/>
              </a:spcAft>
              <a:buNone/>
            </a:pPr>
            <a:r>
              <a:rPr b="1" i="0" lang="en-US" sz="6146" u="none" cap="none" strike="noStrike">
                <a:solidFill>
                  <a:srgbClr val="000000"/>
                </a:solidFill>
                <a:latin typeface="Open Sans"/>
                <a:ea typeface="Open Sans"/>
                <a:cs typeface="Open Sans"/>
                <a:sym typeface="Open Sans"/>
              </a:rPr>
              <a:t>&amp;</a:t>
            </a:r>
            <a:endParaRPr/>
          </a:p>
          <a:p>
            <a:pPr indent="0" lvl="0" marL="0" marR="0" rtl="0" algn="ctr">
              <a:lnSpc>
                <a:spcPct val="140008"/>
              </a:lnSpc>
              <a:spcBef>
                <a:spcPts val="0"/>
              </a:spcBef>
              <a:spcAft>
                <a:spcPts val="0"/>
              </a:spcAft>
              <a:buNone/>
            </a:pPr>
            <a:r>
              <a:rPr b="0" i="0" lang="en-US" sz="7246" u="none" cap="none" strike="noStrike">
                <a:solidFill>
                  <a:srgbClr val="000000"/>
                </a:solidFill>
                <a:latin typeface="Open Sans"/>
                <a:ea typeface="Open Sans"/>
                <a:cs typeface="Open Sans"/>
                <a:sym typeface="Open Sans"/>
              </a:rPr>
              <a:t>Preference </a:t>
            </a:r>
            <a:r>
              <a:rPr b="1" i="0" lang="en-US" sz="7246" u="none" cap="none" strike="noStrike">
                <a:solidFill>
                  <a:srgbClr val="000000"/>
                </a:solidFill>
                <a:latin typeface="Open Sans"/>
                <a:ea typeface="Open Sans"/>
                <a:cs typeface="Open Sans"/>
                <a:sym typeface="Open Sans"/>
              </a:rPr>
              <a:t>ideas.</a:t>
            </a:r>
            <a:endParaRPr/>
          </a:p>
        </p:txBody>
      </p:sp>
      <p:sp>
        <p:nvSpPr>
          <p:cNvPr id="94" name="Google Shape;94;p2"/>
          <p:cNvSpPr txBox="1"/>
          <p:nvPr/>
        </p:nvSpPr>
        <p:spPr>
          <a:xfrm>
            <a:off x="2807318" y="6883126"/>
            <a:ext cx="2686016" cy="568873"/>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1" i="0" lang="en-US" sz="3311" u="none" cap="none" strike="noStrike">
                <a:solidFill>
                  <a:srgbClr val="000000"/>
                </a:solidFill>
                <a:latin typeface="Open Sans"/>
                <a:ea typeface="Open Sans"/>
                <a:cs typeface="Open Sans"/>
                <a:sym typeface="Open Sans"/>
              </a:rPr>
              <a:t>Focus Bear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p:nvPr/>
        </p:nvSpPr>
        <p:spPr>
          <a:xfrm>
            <a:off x="665372" y="426486"/>
            <a:ext cx="11451456" cy="8831814"/>
          </a:xfrm>
          <a:custGeom>
            <a:rect b="b" l="l" r="r" t="t"/>
            <a:pathLst>
              <a:path extrusionOk="0" h="8831814" w="11451456">
                <a:moveTo>
                  <a:pt x="0" y="0"/>
                </a:moveTo>
                <a:lnTo>
                  <a:pt x="11451456" y="0"/>
                </a:lnTo>
                <a:lnTo>
                  <a:pt x="11451456" y="8831814"/>
                </a:lnTo>
                <a:lnTo>
                  <a:pt x="0" y="8831814"/>
                </a:lnTo>
                <a:lnTo>
                  <a:pt x="0" y="0"/>
                </a:lnTo>
                <a:close/>
              </a:path>
            </a:pathLst>
          </a:custGeom>
          <a:blipFill rotWithShape="1">
            <a:blip r:embed="rId3">
              <a:alphaModFix/>
            </a:blip>
            <a:stretch>
              <a:fillRect b="-11313" l="0" r="0" t="0"/>
            </a:stretch>
          </a:blipFill>
          <a:ln>
            <a:noFill/>
          </a:ln>
        </p:spPr>
      </p:sp>
      <p:sp>
        <p:nvSpPr>
          <p:cNvPr id="100" name="Google Shape;100;p3"/>
          <p:cNvSpPr/>
          <p:nvPr/>
        </p:nvSpPr>
        <p:spPr>
          <a:xfrm>
            <a:off x="12333868" y="1330498"/>
            <a:ext cx="5785478" cy="5669769"/>
          </a:xfrm>
          <a:custGeom>
            <a:rect b="b" l="l" r="r" t="t"/>
            <a:pathLst>
              <a:path extrusionOk="0" h="5669769" w="5785478">
                <a:moveTo>
                  <a:pt x="0" y="0"/>
                </a:moveTo>
                <a:lnTo>
                  <a:pt x="5785478" y="0"/>
                </a:lnTo>
                <a:lnTo>
                  <a:pt x="5785478" y="5669769"/>
                </a:lnTo>
                <a:lnTo>
                  <a:pt x="0" y="5669769"/>
                </a:lnTo>
                <a:lnTo>
                  <a:pt x="0" y="0"/>
                </a:lnTo>
                <a:close/>
              </a:path>
            </a:pathLst>
          </a:custGeom>
          <a:blipFill rotWithShape="1">
            <a:blip r:embed="rId4">
              <a:alphaModFix/>
            </a:blip>
            <a:stretch>
              <a:fillRect b="0" l="0" r="0" t="0"/>
            </a:stretch>
          </a:blipFill>
          <a:ln>
            <a:noFill/>
          </a:ln>
        </p:spPr>
      </p:sp>
      <p:sp>
        <p:nvSpPr>
          <p:cNvPr id="101" name="Google Shape;101;p3"/>
          <p:cNvSpPr/>
          <p:nvPr/>
        </p:nvSpPr>
        <p:spPr>
          <a:xfrm rot="8964713">
            <a:off x="10149905" y="3143770"/>
            <a:ext cx="2434918" cy="730475"/>
          </a:xfrm>
          <a:custGeom>
            <a:rect b="b" l="l" r="r" t="t"/>
            <a:pathLst>
              <a:path extrusionOk="0" h="730475" w="2434918">
                <a:moveTo>
                  <a:pt x="0" y="0"/>
                </a:moveTo>
                <a:lnTo>
                  <a:pt x="2434917" y="0"/>
                </a:lnTo>
                <a:lnTo>
                  <a:pt x="2434917" y="730475"/>
                </a:lnTo>
                <a:lnTo>
                  <a:pt x="0" y="730475"/>
                </a:lnTo>
                <a:lnTo>
                  <a:pt x="0" y="0"/>
                </a:lnTo>
                <a:close/>
              </a:path>
            </a:pathLst>
          </a:custGeom>
          <a:blipFill rotWithShape="1">
            <a:blip r:embed="rId5">
              <a:alphaModFix/>
            </a:blip>
            <a:stretch>
              <a:fillRect b="0" l="0" r="0" t="0"/>
            </a:stretch>
          </a:blipFill>
          <a:ln>
            <a:noFill/>
          </a:ln>
        </p:spPr>
      </p:sp>
      <p:sp>
        <p:nvSpPr>
          <p:cNvPr id="102" name="Google Shape;102;p3"/>
          <p:cNvSpPr txBox="1"/>
          <p:nvPr/>
        </p:nvSpPr>
        <p:spPr>
          <a:xfrm>
            <a:off x="12819595" y="2072345"/>
            <a:ext cx="4814100" cy="47241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i="0" lang="en-US" sz="2346" u="none" cap="none" strike="noStrike">
                <a:solidFill>
                  <a:srgbClr val="000000"/>
                </a:solidFill>
                <a:latin typeface="Open Sans"/>
                <a:ea typeface="Open Sans"/>
                <a:cs typeface="Open Sans"/>
                <a:sym typeface="Open Sans"/>
              </a:rPr>
              <a:t>Y</a:t>
            </a:r>
            <a:r>
              <a:rPr b="1" i="0" lang="en-US" sz="2246" u="none" cap="none" strike="noStrike">
                <a:solidFill>
                  <a:srgbClr val="000000"/>
                </a:solidFill>
                <a:latin typeface="Open Sans"/>
                <a:ea typeface="Open Sans"/>
                <a:cs typeface="Open Sans"/>
                <a:sym typeface="Open Sans"/>
              </a:rPr>
              <a:t>ou can give a presentation such as:</a:t>
            </a:r>
            <a:endParaRPr sz="1300"/>
          </a:p>
          <a:p>
            <a:pPr indent="0" lvl="0" marL="0" marR="0" rtl="0" algn="ctr">
              <a:lnSpc>
                <a:spcPct val="140025"/>
              </a:lnSpc>
              <a:spcBef>
                <a:spcPts val="0"/>
              </a:spcBef>
              <a:spcAft>
                <a:spcPts val="0"/>
              </a:spcAft>
              <a:buNone/>
            </a:pPr>
            <a:r>
              <a:t/>
            </a:r>
            <a:endParaRPr b="1" i="0" sz="2246" u="none" cap="none" strike="noStrike">
              <a:solidFill>
                <a:srgbClr val="000000"/>
              </a:solidFill>
              <a:latin typeface="Open Sans"/>
              <a:ea typeface="Open Sans"/>
              <a:cs typeface="Open Sans"/>
              <a:sym typeface="Open Sans"/>
            </a:endParaRPr>
          </a:p>
          <a:p>
            <a:pPr indent="0" lvl="0" marL="0" marR="0" rtl="0" algn="ctr">
              <a:lnSpc>
                <a:spcPct val="140025"/>
              </a:lnSpc>
              <a:spcBef>
                <a:spcPts val="0"/>
              </a:spcBef>
              <a:spcAft>
                <a:spcPts val="0"/>
              </a:spcAft>
              <a:buNone/>
            </a:pPr>
            <a:r>
              <a:rPr b="1" i="0" lang="en-US" sz="2246" u="none" cap="none" strike="noStrike">
                <a:solidFill>
                  <a:srgbClr val="000000"/>
                </a:solidFill>
                <a:latin typeface="Open Sans"/>
                <a:ea typeface="Open Sans"/>
                <a:cs typeface="Open Sans"/>
                <a:sym typeface="Open Sans"/>
              </a:rPr>
              <a:t>Welcome aboard!</a:t>
            </a:r>
            <a:endParaRPr sz="1300"/>
          </a:p>
          <a:p>
            <a:pPr indent="0" lvl="0" marL="0" marR="0" rtl="0" algn="ctr">
              <a:lnSpc>
                <a:spcPct val="140025"/>
              </a:lnSpc>
              <a:spcBef>
                <a:spcPts val="0"/>
              </a:spcBef>
              <a:spcAft>
                <a:spcPts val="0"/>
              </a:spcAft>
              <a:buNone/>
            </a:pPr>
            <a:r>
              <a:t/>
            </a:r>
            <a:endParaRPr b="1" i="0" sz="2246" u="none" cap="none" strike="noStrike">
              <a:solidFill>
                <a:srgbClr val="000000"/>
              </a:solidFill>
              <a:latin typeface="Open Sans"/>
              <a:ea typeface="Open Sans"/>
              <a:cs typeface="Open Sans"/>
              <a:sym typeface="Open Sans"/>
            </a:endParaRPr>
          </a:p>
          <a:p>
            <a:pPr indent="0" lvl="0" marL="0" marR="0" rtl="0" algn="ctr">
              <a:lnSpc>
                <a:spcPct val="140025"/>
              </a:lnSpc>
              <a:spcBef>
                <a:spcPts val="0"/>
              </a:spcBef>
              <a:spcAft>
                <a:spcPts val="0"/>
              </a:spcAft>
              <a:buNone/>
            </a:pPr>
            <a:r>
              <a:rPr b="1" i="0" lang="en-US" sz="2246" u="none" cap="none" strike="noStrike">
                <a:solidFill>
                  <a:srgbClr val="000000"/>
                </a:solidFill>
                <a:latin typeface="Open Sans"/>
                <a:ea typeface="Open Sans"/>
                <a:cs typeface="Open Sans"/>
                <a:sym typeface="Open Sans"/>
              </a:rPr>
              <a:t>Focus Bear helps you stay focused and create healthy habits.</a:t>
            </a:r>
            <a:endParaRPr sz="1300"/>
          </a:p>
          <a:p>
            <a:pPr indent="0" lvl="0" marL="0" marR="0" rtl="0" algn="ctr">
              <a:lnSpc>
                <a:spcPct val="140025"/>
              </a:lnSpc>
              <a:spcBef>
                <a:spcPts val="0"/>
              </a:spcBef>
              <a:spcAft>
                <a:spcPts val="0"/>
              </a:spcAft>
              <a:buNone/>
            </a:pPr>
            <a:r>
              <a:t/>
            </a:r>
            <a:endParaRPr b="1" i="0" sz="2246" u="none" cap="none" strike="noStrike">
              <a:solidFill>
                <a:srgbClr val="000000"/>
              </a:solidFill>
              <a:latin typeface="Open Sans"/>
              <a:ea typeface="Open Sans"/>
              <a:cs typeface="Open Sans"/>
              <a:sym typeface="Open Sans"/>
            </a:endParaRPr>
          </a:p>
          <a:p>
            <a:pPr indent="0" lvl="0" marL="0" marR="0" rtl="0" algn="ctr">
              <a:lnSpc>
                <a:spcPct val="140025"/>
              </a:lnSpc>
              <a:spcBef>
                <a:spcPts val="0"/>
              </a:spcBef>
              <a:spcAft>
                <a:spcPts val="0"/>
              </a:spcAft>
              <a:buNone/>
            </a:pPr>
            <a:r>
              <a:rPr b="1" i="0" lang="en-US" sz="2246" u="none" cap="none" strike="noStrike">
                <a:solidFill>
                  <a:srgbClr val="000000"/>
                </a:solidFill>
                <a:latin typeface="Open Sans"/>
                <a:ea typeface="Open Sans"/>
                <a:cs typeface="Open Sans"/>
                <a:sym typeface="Open Sans"/>
              </a:rPr>
              <a:t>Let's start being productive!</a:t>
            </a: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p:nvPr/>
        </p:nvSpPr>
        <p:spPr>
          <a:xfrm>
            <a:off x="2463548" y="514350"/>
            <a:ext cx="5674535" cy="9258300"/>
          </a:xfrm>
          <a:custGeom>
            <a:rect b="b" l="l" r="r" t="t"/>
            <a:pathLst>
              <a:path extrusionOk="0" h="9258300" w="5674535">
                <a:moveTo>
                  <a:pt x="0" y="0"/>
                </a:moveTo>
                <a:lnTo>
                  <a:pt x="5674535" y="0"/>
                </a:lnTo>
                <a:lnTo>
                  <a:pt x="5674535" y="9258300"/>
                </a:lnTo>
                <a:lnTo>
                  <a:pt x="0" y="9258300"/>
                </a:lnTo>
                <a:lnTo>
                  <a:pt x="0" y="0"/>
                </a:lnTo>
                <a:close/>
              </a:path>
            </a:pathLst>
          </a:custGeom>
          <a:blipFill rotWithShape="1">
            <a:blip r:embed="rId3">
              <a:alphaModFix/>
            </a:blip>
            <a:stretch>
              <a:fillRect b="-12695" l="0" r="0" t="0"/>
            </a:stretch>
          </a:blipFill>
          <a:ln>
            <a:noFill/>
          </a:ln>
        </p:spPr>
      </p:sp>
      <p:grpSp>
        <p:nvGrpSpPr>
          <p:cNvPr id="108" name="Google Shape;108;p4"/>
          <p:cNvGrpSpPr/>
          <p:nvPr/>
        </p:nvGrpSpPr>
        <p:grpSpPr>
          <a:xfrm>
            <a:off x="3940837" y="4125529"/>
            <a:ext cx="3400835" cy="1017971"/>
            <a:chOff x="0" y="-689"/>
            <a:chExt cx="1335436" cy="399735"/>
          </a:xfrm>
        </p:grpSpPr>
        <p:sp>
          <p:nvSpPr>
            <p:cNvPr id="109" name="Google Shape;109;p4"/>
            <p:cNvSpPr/>
            <p:nvPr/>
          </p:nvSpPr>
          <p:spPr>
            <a:xfrm>
              <a:off x="0" y="0"/>
              <a:ext cx="1335436" cy="399046"/>
            </a:xfrm>
            <a:custGeom>
              <a:rect b="b" l="l" r="r" t="t"/>
              <a:pathLst>
                <a:path extrusionOk="0" h="399046" w="1335436">
                  <a:moveTo>
                    <a:pt x="667718" y="0"/>
                  </a:moveTo>
                  <a:cubicBezTo>
                    <a:pt x="298948" y="0"/>
                    <a:pt x="0" y="89330"/>
                    <a:pt x="0" y="199523"/>
                  </a:cubicBezTo>
                  <a:cubicBezTo>
                    <a:pt x="0" y="309717"/>
                    <a:pt x="298948" y="399046"/>
                    <a:pt x="667718" y="399046"/>
                  </a:cubicBezTo>
                  <a:cubicBezTo>
                    <a:pt x="1036488" y="399046"/>
                    <a:pt x="1335436" y="309717"/>
                    <a:pt x="1335436" y="199523"/>
                  </a:cubicBezTo>
                  <a:cubicBezTo>
                    <a:pt x="1335436" y="89330"/>
                    <a:pt x="1036488" y="0"/>
                    <a:pt x="667718" y="0"/>
                  </a:cubicBezTo>
                  <a:close/>
                </a:path>
              </a:pathLst>
            </a:custGeom>
            <a:noFill/>
            <a:ln cap="sq" cmpd="sng" w="381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txBox="1"/>
            <p:nvPr/>
          </p:nvSpPr>
          <p:spPr>
            <a:xfrm>
              <a:off x="125197" y="-689"/>
              <a:ext cx="1085042" cy="3623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4"/>
          <p:cNvSpPr/>
          <p:nvPr/>
        </p:nvSpPr>
        <p:spPr>
          <a:xfrm>
            <a:off x="7341672" y="4331632"/>
            <a:ext cx="2773757" cy="811868"/>
          </a:xfrm>
          <a:custGeom>
            <a:rect b="b" l="l" r="r" t="t"/>
            <a:pathLst>
              <a:path extrusionOk="0" h="811868" w="2773757">
                <a:moveTo>
                  <a:pt x="0" y="0"/>
                </a:moveTo>
                <a:lnTo>
                  <a:pt x="2773756" y="0"/>
                </a:lnTo>
                <a:lnTo>
                  <a:pt x="2773756" y="811868"/>
                </a:lnTo>
                <a:lnTo>
                  <a:pt x="0" y="811868"/>
                </a:lnTo>
                <a:lnTo>
                  <a:pt x="0" y="0"/>
                </a:lnTo>
                <a:close/>
              </a:path>
            </a:pathLst>
          </a:custGeom>
          <a:blipFill rotWithShape="1">
            <a:blip r:embed="rId4">
              <a:alphaModFix/>
            </a:blip>
            <a:stretch>
              <a:fillRect b="0" l="0" r="0" t="0"/>
            </a:stretch>
          </a:blipFill>
          <a:ln>
            <a:noFill/>
          </a:ln>
        </p:spPr>
      </p:sp>
      <p:sp>
        <p:nvSpPr>
          <p:cNvPr id="112" name="Google Shape;112;p4"/>
          <p:cNvSpPr/>
          <p:nvPr/>
        </p:nvSpPr>
        <p:spPr>
          <a:xfrm>
            <a:off x="10115428" y="1902681"/>
            <a:ext cx="5785478" cy="5669769"/>
          </a:xfrm>
          <a:custGeom>
            <a:rect b="b" l="l" r="r" t="t"/>
            <a:pathLst>
              <a:path extrusionOk="0" h="5669769" w="5785478">
                <a:moveTo>
                  <a:pt x="0" y="0"/>
                </a:moveTo>
                <a:lnTo>
                  <a:pt x="5785479" y="0"/>
                </a:lnTo>
                <a:lnTo>
                  <a:pt x="5785479" y="5669769"/>
                </a:lnTo>
                <a:lnTo>
                  <a:pt x="0" y="5669769"/>
                </a:lnTo>
                <a:lnTo>
                  <a:pt x="0" y="0"/>
                </a:lnTo>
                <a:close/>
              </a:path>
            </a:pathLst>
          </a:custGeom>
          <a:blipFill rotWithShape="1">
            <a:blip r:embed="rId5">
              <a:alphaModFix/>
            </a:blip>
            <a:stretch>
              <a:fillRect b="0" l="0" r="0" t="0"/>
            </a:stretch>
          </a:blipFill>
          <a:ln>
            <a:noFill/>
          </a:ln>
        </p:spPr>
      </p:sp>
      <p:sp>
        <p:nvSpPr>
          <p:cNvPr id="113" name="Google Shape;113;p4"/>
          <p:cNvSpPr txBox="1"/>
          <p:nvPr/>
        </p:nvSpPr>
        <p:spPr>
          <a:xfrm>
            <a:off x="10617985" y="1938166"/>
            <a:ext cx="4447500" cy="59049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3552" u="none" cap="none" strike="noStrike">
                <a:solidFill>
                  <a:srgbClr val="000000"/>
                </a:solidFill>
                <a:latin typeface="Open Sans"/>
                <a:ea typeface="Open Sans"/>
                <a:cs typeface="Open Sans"/>
                <a:sym typeface="Open Sans"/>
              </a:rPr>
              <a:t>When you need help in the limited blocking mode section, don't select it.</a:t>
            </a:r>
            <a:endParaRPr b="0" i="0" sz="3552" u="none" cap="none" strike="noStrike">
              <a:solidFill>
                <a:srgbClr val="000000"/>
              </a:solidFill>
              <a:latin typeface="Open Sans"/>
              <a:ea typeface="Open Sans"/>
              <a:cs typeface="Open Sans"/>
              <a:sym typeface="Open Sans"/>
            </a:endParaRPr>
          </a:p>
          <a:p>
            <a:pPr indent="0" lvl="0" marL="0" marR="0" rtl="0" algn="ctr">
              <a:lnSpc>
                <a:spcPct val="140005"/>
              </a:lnSpc>
              <a:spcBef>
                <a:spcPts val="0"/>
              </a:spcBef>
              <a:spcAft>
                <a:spcPts val="0"/>
              </a:spcAft>
              <a:buNone/>
            </a:pPr>
            <a:r>
              <a:rPr b="0" i="0" lang="en-US" sz="3552" u="none" cap="none" strike="noStrike">
                <a:solidFill>
                  <a:srgbClr val="000000"/>
                </a:solidFill>
                <a:latin typeface="Open Sans"/>
                <a:ea typeface="Open Sans"/>
                <a:cs typeface="Open Sans"/>
                <a:sym typeface="Open Sans"/>
              </a:rPr>
              <a:t>It also does not translate functions.</a:t>
            </a:r>
            <a:endParaRPr/>
          </a:p>
          <a:p>
            <a:pPr indent="0" lvl="0" marL="0" marR="0" rtl="0" algn="ctr">
              <a:lnSpc>
                <a:spcPct val="140005"/>
              </a:lnSpc>
              <a:spcBef>
                <a:spcPts val="0"/>
              </a:spcBef>
              <a:spcAft>
                <a:spcPts val="0"/>
              </a:spcAft>
              <a:buNone/>
            </a:pPr>
            <a:r>
              <a:t/>
            </a:r>
            <a:endParaRPr b="0" i="0" sz="3552"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p:nvPr/>
        </p:nvSpPr>
        <p:spPr>
          <a:xfrm>
            <a:off x="335497" y="373541"/>
            <a:ext cx="13362427" cy="7285517"/>
          </a:xfrm>
          <a:custGeom>
            <a:rect b="b" l="l" r="r" t="t"/>
            <a:pathLst>
              <a:path extrusionOk="0" h="7285517" w="13362427">
                <a:moveTo>
                  <a:pt x="0" y="0"/>
                </a:moveTo>
                <a:lnTo>
                  <a:pt x="13362427" y="0"/>
                </a:lnTo>
                <a:lnTo>
                  <a:pt x="13362427" y="7285518"/>
                </a:lnTo>
                <a:lnTo>
                  <a:pt x="0" y="7285518"/>
                </a:lnTo>
                <a:lnTo>
                  <a:pt x="0" y="0"/>
                </a:lnTo>
                <a:close/>
              </a:path>
            </a:pathLst>
          </a:custGeom>
          <a:blipFill rotWithShape="1">
            <a:blip r:embed="rId3">
              <a:alphaModFix/>
            </a:blip>
            <a:stretch>
              <a:fillRect b="-60888" l="-59538" r="-4424" t="0"/>
            </a:stretch>
          </a:blipFill>
          <a:ln>
            <a:noFill/>
          </a:ln>
        </p:spPr>
      </p:sp>
      <p:sp>
        <p:nvSpPr>
          <p:cNvPr id="119" name="Google Shape;119;p5"/>
          <p:cNvSpPr/>
          <p:nvPr/>
        </p:nvSpPr>
        <p:spPr>
          <a:xfrm>
            <a:off x="13001224" y="5143500"/>
            <a:ext cx="5107975" cy="5005816"/>
          </a:xfrm>
          <a:custGeom>
            <a:rect b="b" l="l" r="r" t="t"/>
            <a:pathLst>
              <a:path extrusionOk="0" h="5005816" w="5107975">
                <a:moveTo>
                  <a:pt x="0" y="0"/>
                </a:moveTo>
                <a:lnTo>
                  <a:pt x="5107975" y="0"/>
                </a:lnTo>
                <a:lnTo>
                  <a:pt x="5107975" y="5005816"/>
                </a:lnTo>
                <a:lnTo>
                  <a:pt x="0" y="5005816"/>
                </a:lnTo>
                <a:lnTo>
                  <a:pt x="0" y="0"/>
                </a:lnTo>
                <a:close/>
              </a:path>
            </a:pathLst>
          </a:custGeom>
          <a:blipFill rotWithShape="1">
            <a:blip r:embed="rId4">
              <a:alphaModFix/>
            </a:blip>
            <a:stretch>
              <a:fillRect b="0" l="0" r="0" t="0"/>
            </a:stretch>
          </a:blipFill>
          <a:ln>
            <a:noFill/>
          </a:ln>
        </p:spPr>
      </p:sp>
      <p:sp>
        <p:nvSpPr>
          <p:cNvPr id="120" name="Google Shape;120;p5"/>
          <p:cNvSpPr/>
          <p:nvPr/>
        </p:nvSpPr>
        <p:spPr>
          <a:xfrm rot="422158">
            <a:off x="12111513" y="3842864"/>
            <a:ext cx="2185114" cy="1362525"/>
          </a:xfrm>
          <a:custGeom>
            <a:rect b="b" l="l" r="r" t="t"/>
            <a:pathLst>
              <a:path extrusionOk="0" h="1362525" w="2185114">
                <a:moveTo>
                  <a:pt x="0" y="0"/>
                </a:moveTo>
                <a:lnTo>
                  <a:pt x="2185113" y="0"/>
                </a:lnTo>
                <a:lnTo>
                  <a:pt x="2185113" y="1362525"/>
                </a:lnTo>
                <a:lnTo>
                  <a:pt x="0" y="1362525"/>
                </a:lnTo>
                <a:lnTo>
                  <a:pt x="0" y="0"/>
                </a:lnTo>
                <a:close/>
              </a:path>
            </a:pathLst>
          </a:custGeom>
          <a:blipFill rotWithShape="1">
            <a:blip r:embed="rId5">
              <a:alphaModFix/>
            </a:blip>
            <a:stretch>
              <a:fillRect b="0" l="0" r="0" t="0"/>
            </a:stretch>
          </a:blipFill>
          <a:ln>
            <a:noFill/>
          </a:ln>
        </p:spPr>
      </p:sp>
      <p:sp>
        <p:nvSpPr>
          <p:cNvPr id="121" name="Google Shape;121;p5"/>
          <p:cNvSpPr txBox="1"/>
          <p:nvPr/>
        </p:nvSpPr>
        <p:spPr>
          <a:xfrm>
            <a:off x="13887312" y="5789294"/>
            <a:ext cx="3197159" cy="3469006"/>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0" lang="en-US" sz="3299" u="none" cap="none" strike="noStrike">
                <a:solidFill>
                  <a:srgbClr val="000000"/>
                </a:solidFill>
                <a:latin typeface="Open Sans"/>
                <a:ea typeface="Open Sans"/>
                <a:cs typeface="Open Sans"/>
                <a:sym typeface="Open Sans"/>
              </a:rPr>
              <a:t>The language selection is </a:t>
            </a:r>
            <a:r>
              <a:rPr b="1" i="0" lang="en-US" sz="3299" u="none" cap="none" strike="noStrike">
                <a:solidFill>
                  <a:srgbClr val="000000"/>
                </a:solidFill>
                <a:latin typeface="Open Sans"/>
                <a:ea typeface="Open Sans"/>
                <a:cs typeface="Open Sans"/>
                <a:sym typeface="Open Sans"/>
              </a:rPr>
              <a:t>unstable</a:t>
            </a:r>
            <a:r>
              <a:rPr b="0" i="0" lang="en-US" sz="3299" u="none" cap="none" strike="noStrike">
                <a:solidFill>
                  <a:srgbClr val="000000"/>
                </a:solidFill>
                <a:latin typeface="Open Sans"/>
                <a:ea typeface="Open Sans"/>
                <a:cs typeface="Open Sans"/>
                <a:sym typeface="Open Sans"/>
              </a:rPr>
              <a:t>; it does not remain constant.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p:nvPr/>
        </p:nvSpPr>
        <p:spPr>
          <a:xfrm>
            <a:off x="279114" y="748981"/>
            <a:ext cx="12987906" cy="7393276"/>
          </a:xfrm>
          <a:custGeom>
            <a:rect b="b" l="l" r="r" t="t"/>
            <a:pathLst>
              <a:path extrusionOk="0" h="7393276" w="12987906">
                <a:moveTo>
                  <a:pt x="0" y="0"/>
                </a:moveTo>
                <a:lnTo>
                  <a:pt x="12987906" y="0"/>
                </a:lnTo>
                <a:lnTo>
                  <a:pt x="12987906" y="7393277"/>
                </a:lnTo>
                <a:lnTo>
                  <a:pt x="0" y="7393277"/>
                </a:lnTo>
                <a:lnTo>
                  <a:pt x="0" y="0"/>
                </a:lnTo>
                <a:close/>
              </a:path>
            </a:pathLst>
          </a:custGeom>
          <a:blipFill rotWithShape="1">
            <a:blip r:embed="rId3">
              <a:alphaModFix/>
            </a:blip>
            <a:stretch>
              <a:fillRect b="0" l="0" r="0" t="0"/>
            </a:stretch>
          </a:blipFill>
          <a:ln>
            <a:noFill/>
          </a:ln>
        </p:spPr>
      </p:sp>
      <p:sp>
        <p:nvSpPr>
          <p:cNvPr id="127" name="Google Shape;127;p6"/>
          <p:cNvSpPr/>
          <p:nvPr/>
        </p:nvSpPr>
        <p:spPr>
          <a:xfrm>
            <a:off x="12272998" y="4284786"/>
            <a:ext cx="6015002" cy="5894702"/>
          </a:xfrm>
          <a:custGeom>
            <a:rect b="b" l="l" r="r" t="t"/>
            <a:pathLst>
              <a:path extrusionOk="0" h="5894702" w="6015002">
                <a:moveTo>
                  <a:pt x="0" y="0"/>
                </a:moveTo>
                <a:lnTo>
                  <a:pt x="6015002" y="0"/>
                </a:lnTo>
                <a:lnTo>
                  <a:pt x="6015002" y="5894702"/>
                </a:lnTo>
                <a:lnTo>
                  <a:pt x="0" y="5894702"/>
                </a:lnTo>
                <a:lnTo>
                  <a:pt x="0" y="0"/>
                </a:lnTo>
                <a:close/>
              </a:path>
            </a:pathLst>
          </a:custGeom>
          <a:blipFill rotWithShape="1">
            <a:blip r:embed="rId4">
              <a:alphaModFix/>
            </a:blip>
            <a:stretch>
              <a:fillRect b="0" l="0" r="0" t="0"/>
            </a:stretch>
          </a:blipFill>
          <a:ln>
            <a:noFill/>
          </a:ln>
        </p:spPr>
      </p:sp>
      <p:sp>
        <p:nvSpPr>
          <p:cNvPr id="128" name="Google Shape;128;p6"/>
          <p:cNvSpPr txBox="1"/>
          <p:nvPr/>
        </p:nvSpPr>
        <p:spPr>
          <a:xfrm>
            <a:off x="12718774" y="4852661"/>
            <a:ext cx="5123400" cy="52044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22" u="none" cap="none" strike="noStrike">
                <a:solidFill>
                  <a:srgbClr val="000000"/>
                </a:solidFill>
                <a:latin typeface="Open Sans"/>
                <a:ea typeface="Open Sans"/>
                <a:cs typeface="Open Sans"/>
                <a:sym typeface="Open Sans"/>
              </a:rPr>
              <a:t>I</a:t>
            </a:r>
            <a:r>
              <a:rPr b="0" i="0" lang="en-US" sz="2222" u="none" cap="none" strike="noStrike">
                <a:solidFill>
                  <a:srgbClr val="000000"/>
                </a:solidFill>
                <a:latin typeface="Open Sans"/>
                <a:ea typeface="Open Sans"/>
                <a:cs typeface="Open Sans"/>
                <a:sym typeface="Open Sans"/>
              </a:rPr>
              <a:t>n the task list section, when a task is added, </a:t>
            </a:r>
            <a:r>
              <a:rPr b="1" i="0" lang="en-US" sz="2222" u="none" cap="none" strike="noStrike">
                <a:solidFill>
                  <a:srgbClr val="000000"/>
                </a:solidFill>
                <a:latin typeface="Open Sans"/>
                <a:ea typeface="Open Sans"/>
                <a:cs typeface="Open Sans"/>
                <a:sym typeface="Open Sans"/>
              </a:rPr>
              <a:t>it should be possible to assign a due time</a:t>
            </a:r>
            <a:r>
              <a:rPr b="0" i="0" lang="en-US" sz="2222" u="none" cap="none" strike="noStrike">
                <a:solidFill>
                  <a:srgbClr val="000000"/>
                </a:solidFill>
                <a:latin typeface="Open Sans"/>
                <a:ea typeface="Open Sans"/>
                <a:cs typeface="Open Sans"/>
                <a:sym typeface="Open Sans"/>
              </a:rPr>
              <a:t>, since only the date on which the task will be performed is assigned. By assigning a time,</a:t>
            </a:r>
            <a:r>
              <a:rPr b="1" i="0" lang="en-US" sz="2222" u="none" cap="none" strike="noStrike">
                <a:solidFill>
                  <a:srgbClr val="000000"/>
                </a:solidFill>
                <a:latin typeface="Open Sans"/>
                <a:ea typeface="Open Sans"/>
                <a:cs typeface="Open Sans"/>
                <a:sym typeface="Open Sans"/>
              </a:rPr>
              <a:t> we can even set the app to send us a reminder in a push notification</a:t>
            </a:r>
            <a:r>
              <a:rPr b="0" i="0" lang="en-US" sz="2222" u="none" cap="none" strike="noStrike">
                <a:solidFill>
                  <a:srgbClr val="000000"/>
                </a:solidFill>
                <a:latin typeface="Open Sans"/>
                <a:ea typeface="Open Sans"/>
                <a:cs typeface="Open Sans"/>
                <a:sym typeface="Open Sans"/>
              </a:rPr>
              <a:t>, which can also be </a:t>
            </a:r>
            <a:r>
              <a:rPr b="1" i="0" lang="en-US" sz="2222" u="none" cap="none" strike="noStrike">
                <a:solidFill>
                  <a:srgbClr val="000000"/>
                </a:solidFill>
                <a:latin typeface="Open Sans"/>
                <a:ea typeface="Open Sans"/>
                <a:cs typeface="Open Sans"/>
                <a:sym typeface="Open Sans"/>
              </a:rPr>
              <a:t>programmed to remind us at a stipulated time to</a:t>
            </a:r>
            <a:r>
              <a:rPr b="0" i="0" lang="en-US" sz="2222" u="none" cap="none" strike="noStrike">
                <a:solidFill>
                  <a:srgbClr val="000000"/>
                </a:solidFill>
                <a:latin typeface="Open Sans"/>
                <a:ea typeface="Open Sans"/>
                <a:cs typeface="Open Sans"/>
                <a:sym typeface="Open Sans"/>
              </a:rPr>
              <a:t> perform the task in advance.</a:t>
            </a:r>
            <a:endParaRPr sz="1200"/>
          </a:p>
          <a:p>
            <a:pPr indent="0" lvl="0" marL="0" marR="0" rtl="0" algn="ctr">
              <a:lnSpc>
                <a:spcPct val="140008"/>
              </a:lnSpc>
              <a:spcBef>
                <a:spcPts val="0"/>
              </a:spcBef>
              <a:spcAft>
                <a:spcPts val="0"/>
              </a:spcAft>
              <a:buNone/>
            </a:pPr>
            <a:r>
              <a:t/>
            </a:r>
            <a:endParaRPr b="0" i="0" sz="2422" u="none" cap="none" strike="noStrike">
              <a:solidFill>
                <a:srgbClr val="000000"/>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p:nvPr/>
        </p:nvSpPr>
        <p:spPr>
          <a:xfrm>
            <a:off x="4500290" y="702339"/>
            <a:ext cx="12987906" cy="7393276"/>
          </a:xfrm>
          <a:custGeom>
            <a:rect b="b" l="l" r="r" t="t"/>
            <a:pathLst>
              <a:path extrusionOk="0" h="7393276" w="12987906">
                <a:moveTo>
                  <a:pt x="0" y="0"/>
                </a:moveTo>
                <a:lnTo>
                  <a:pt x="12987906" y="0"/>
                </a:lnTo>
                <a:lnTo>
                  <a:pt x="12987906" y="7393276"/>
                </a:lnTo>
                <a:lnTo>
                  <a:pt x="0" y="7393276"/>
                </a:lnTo>
                <a:lnTo>
                  <a:pt x="0" y="0"/>
                </a:lnTo>
                <a:close/>
              </a:path>
            </a:pathLst>
          </a:custGeom>
          <a:blipFill rotWithShape="1">
            <a:blip r:embed="rId3">
              <a:alphaModFix/>
            </a:blip>
            <a:stretch>
              <a:fillRect b="0" l="0" r="0" t="0"/>
            </a:stretch>
          </a:blipFill>
          <a:ln>
            <a:noFill/>
          </a:ln>
        </p:spPr>
      </p:sp>
      <p:grpSp>
        <p:nvGrpSpPr>
          <p:cNvPr id="134" name="Google Shape;134;p7"/>
          <p:cNvGrpSpPr/>
          <p:nvPr/>
        </p:nvGrpSpPr>
        <p:grpSpPr>
          <a:xfrm>
            <a:off x="7600950" y="3600450"/>
            <a:ext cx="6187849" cy="4252171"/>
            <a:chOff x="0" y="0"/>
            <a:chExt cx="2335771" cy="1605097"/>
          </a:xfrm>
        </p:grpSpPr>
        <p:sp>
          <p:nvSpPr>
            <p:cNvPr id="135" name="Google Shape;135;p7"/>
            <p:cNvSpPr/>
            <p:nvPr/>
          </p:nvSpPr>
          <p:spPr>
            <a:xfrm>
              <a:off x="0" y="0"/>
              <a:ext cx="2335771" cy="1605097"/>
            </a:xfrm>
            <a:custGeom>
              <a:rect b="b" l="l" r="r" t="t"/>
              <a:pathLst>
                <a:path extrusionOk="0" h="1605097" w="2335771">
                  <a:moveTo>
                    <a:pt x="1167885" y="0"/>
                  </a:moveTo>
                  <a:cubicBezTo>
                    <a:pt x="522880" y="0"/>
                    <a:pt x="0" y="359313"/>
                    <a:pt x="0" y="802549"/>
                  </a:cubicBezTo>
                  <a:cubicBezTo>
                    <a:pt x="0" y="1245784"/>
                    <a:pt x="522880" y="1605097"/>
                    <a:pt x="1167885" y="1605097"/>
                  </a:cubicBezTo>
                  <a:cubicBezTo>
                    <a:pt x="1812891" y="1605097"/>
                    <a:pt x="2335771" y="1245784"/>
                    <a:pt x="2335771" y="802549"/>
                  </a:cubicBezTo>
                  <a:cubicBezTo>
                    <a:pt x="2335771" y="359313"/>
                    <a:pt x="1812891" y="0"/>
                    <a:pt x="1167885" y="0"/>
                  </a:cubicBezTo>
                  <a:lnTo>
                    <a:pt x="1167885" y="0"/>
                  </a:lnTo>
                  <a:close/>
                </a:path>
              </a:pathLst>
            </a:custGeom>
            <a:noFill/>
            <a:ln cap="rnd"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txBox="1"/>
            <p:nvPr/>
          </p:nvSpPr>
          <p:spPr>
            <a:xfrm>
              <a:off x="218979" y="112378"/>
              <a:ext cx="1897814" cy="134224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7" name="Google Shape;137;p7"/>
          <p:cNvSpPr/>
          <p:nvPr/>
        </p:nvSpPr>
        <p:spPr>
          <a:xfrm>
            <a:off x="881172" y="4803802"/>
            <a:ext cx="4735785" cy="4641069"/>
          </a:xfrm>
          <a:custGeom>
            <a:rect b="b" l="l" r="r" t="t"/>
            <a:pathLst>
              <a:path extrusionOk="0" h="4641069" w="4735785">
                <a:moveTo>
                  <a:pt x="0" y="0"/>
                </a:moveTo>
                <a:lnTo>
                  <a:pt x="4735784" y="0"/>
                </a:lnTo>
                <a:lnTo>
                  <a:pt x="4735784" y="4641069"/>
                </a:lnTo>
                <a:lnTo>
                  <a:pt x="0" y="4641069"/>
                </a:lnTo>
                <a:lnTo>
                  <a:pt x="0" y="0"/>
                </a:lnTo>
                <a:close/>
              </a:path>
            </a:pathLst>
          </a:custGeom>
          <a:blipFill rotWithShape="1">
            <a:blip r:embed="rId4">
              <a:alphaModFix/>
            </a:blip>
            <a:stretch>
              <a:fillRect b="0" l="0" r="0" t="0"/>
            </a:stretch>
          </a:blipFill>
          <a:ln>
            <a:noFill/>
          </a:ln>
        </p:spPr>
      </p:sp>
      <p:sp>
        <p:nvSpPr>
          <p:cNvPr id="138" name="Google Shape;138;p7"/>
          <p:cNvSpPr/>
          <p:nvPr/>
        </p:nvSpPr>
        <p:spPr>
          <a:xfrm>
            <a:off x="5871120" y="7689681"/>
            <a:ext cx="2773757" cy="811868"/>
          </a:xfrm>
          <a:custGeom>
            <a:rect b="b" l="l" r="r" t="t"/>
            <a:pathLst>
              <a:path extrusionOk="0" h="811868" w="2773757">
                <a:moveTo>
                  <a:pt x="0" y="0"/>
                </a:moveTo>
                <a:lnTo>
                  <a:pt x="2773756" y="0"/>
                </a:lnTo>
                <a:lnTo>
                  <a:pt x="2773756" y="811868"/>
                </a:lnTo>
                <a:lnTo>
                  <a:pt x="0" y="811868"/>
                </a:lnTo>
                <a:lnTo>
                  <a:pt x="0" y="0"/>
                </a:lnTo>
                <a:close/>
              </a:path>
            </a:pathLst>
          </a:custGeom>
          <a:blipFill rotWithShape="1">
            <a:blip r:embed="rId5">
              <a:alphaModFix/>
            </a:blip>
            <a:stretch>
              <a:fillRect b="0" l="0" r="0" t="0"/>
            </a:stretch>
          </a:blipFill>
          <a:ln>
            <a:noFill/>
          </a:ln>
        </p:spPr>
      </p:sp>
      <p:sp>
        <p:nvSpPr>
          <p:cNvPr id="139" name="Google Shape;139;p7"/>
          <p:cNvSpPr txBox="1"/>
          <p:nvPr/>
        </p:nvSpPr>
        <p:spPr>
          <a:xfrm>
            <a:off x="1350026" y="4958350"/>
            <a:ext cx="3834300" cy="41547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499" u="none" cap="none" strike="noStrike">
                <a:solidFill>
                  <a:srgbClr val="000000"/>
                </a:solidFill>
                <a:latin typeface="Open Sans"/>
                <a:ea typeface="Open Sans"/>
                <a:cs typeface="Open Sans"/>
                <a:sym typeface="Open Sans"/>
              </a:rPr>
              <a:t>Also in this section, you can see that the options </a:t>
            </a:r>
            <a:r>
              <a:rPr b="1" i="0" lang="en-US" sz="2499" u="none" cap="none" strike="noStrike">
                <a:solidFill>
                  <a:srgbClr val="000000"/>
                </a:solidFill>
                <a:latin typeface="Open Sans"/>
                <a:ea typeface="Open Sans"/>
                <a:cs typeface="Open Sans"/>
                <a:sym typeface="Open Sans"/>
              </a:rPr>
              <a:t>have not been translated.</a:t>
            </a:r>
            <a:r>
              <a:rPr b="0" i="0" lang="en-US" sz="2499" u="none" cap="none" strike="noStrike">
                <a:solidFill>
                  <a:srgbClr val="000000"/>
                </a:solidFill>
                <a:latin typeface="Open Sans"/>
                <a:ea typeface="Open Sans"/>
                <a:cs typeface="Open Sans"/>
                <a:sym typeface="Open Sans"/>
              </a:rPr>
              <a:t> In this case, they have not been translated into Spanish, which may </a:t>
            </a:r>
            <a:r>
              <a:rPr b="1" i="0" lang="en-US" sz="2499" u="none" cap="none" strike="noStrike">
                <a:solidFill>
                  <a:srgbClr val="000000"/>
                </a:solidFill>
                <a:latin typeface="Open Sans"/>
                <a:ea typeface="Open Sans"/>
                <a:cs typeface="Open Sans"/>
                <a:sym typeface="Open Sans"/>
              </a:rPr>
              <a:t>be confusing for the user.</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p:nvPr/>
        </p:nvSpPr>
        <p:spPr>
          <a:xfrm>
            <a:off x="7981987" y="1028700"/>
            <a:ext cx="9691342" cy="4598027"/>
          </a:xfrm>
          <a:custGeom>
            <a:rect b="b" l="l" r="r" t="t"/>
            <a:pathLst>
              <a:path extrusionOk="0" h="4598027" w="9691342">
                <a:moveTo>
                  <a:pt x="0" y="0"/>
                </a:moveTo>
                <a:lnTo>
                  <a:pt x="9691342" y="0"/>
                </a:lnTo>
                <a:lnTo>
                  <a:pt x="9691342" y="4598027"/>
                </a:lnTo>
                <a:lnTo>
                  <a:pt x="0" y="4598027"/>
                </a:lnTo>
                <a:lnTo>
                  <a:pt x="0" y="0"/>
                </a:lnTo>
                <a:close/>
              </a:path>
            </a:pathLst>
          </a:custGeom>
          <a:blipFill rotWithShape="1">
            <a:blip r:embed="rId3">
              <a:alphaModFix/>
            </a:blip>
            <a:stretch>
              <a:fillRect b="-11834" l="0" r="-171865" t="-91"/>
            </a:stretch>
          </a:blipFill>
          <a:ln>
            <a:noFill/>
          </a:ln>
        </p:spPr>
      </p:sp>
      <p:sp>
        <p:nvSpPr>
          <p:cNvPr id="145" name="Google Shape;145;p8"/>
          <p:cNvSpPr/>
          <p:nvPr/>
        </p:nvSpPr>
        <p:spPr>
          <a:xfrm>
            <a:off x="1028700" y="1365916"/>
            <a:ext cx="6810460" cy="6674251"/>
          </a:xfrm>
          <a:custGeom>
            <a:rect b="b" l="l" r="r" t="t"/>
            <a:pathLst>
              <a:path extrusionOk="0" h="6674251" w="6810460">
                <a:moveTo>
                  <a:pt x="0" y="0"/>
                </a:moveTo>
                <a:lnTo>
                  <a:pt x="6810460" y="0"/>
                </a:lnTo>
                <a:lnTo>
                  <a:pt x="6810460" y="6674251"/>
                </a:lnTo>
                <a:lnTo>
                  <a:pt x="0" y="6674251"/>
                </a:lnTo>
                <a:lnTo>
                  <a:pt x="0" y="0"/>
                </a:lnTo>
                <a:close/>
              </a:path>
            </a:pathLst>
          </a:custGeom>
          <a:blipFill rotWithShape="1">
            <a:blip r:embed="rId4">
              <a:alphaModFix/>
            </a:blip>
            <a:stretch>
              <a:fillRect b="0" l="0" r="0" t="0"/>
            </a:stretch>
          </a:blipFill>
          <a:ln>
            <a:noFill/>
          </a:ln>
        </p:spPr>
      </p:sp>
      <p:sp>
        <p:nvSpPr>
          <p:cNvPr id="146" name="Google Shape;146;p8"/>
          <p:cNvSpPr/>
          <p:nvPr/>
        </p:nvSpPr>
        <p:spPr>
          <a:xfrm rot="-5400000">
            <a:off x="12238758" y="3418987"/>
            <a:ext cx="541480" cy="5414796"/>
          </a:xfrm>
          <a:custGeom>
            <a:rect b="b" l="l" r="r" t="t"/>
            <a:pathLst>
              <a:path extrusionOk="0" h="5414796" w="541480">
                <a:moveTo>
                  <a:pt x="0" y="0"/>
                </a:moveTo>
                <a:lnTo>
                  <a:pt x="541480" y="0"/>
                </a:lnTo>
                <a:lnTo>
                  <a:pt x="541480" y="5414796"/>
                </a:lnTo>
                <a:lnTo>
                  <a:pt x="0" y="5414796"/>
                </a:lnTo>
                <a:lnTo>
                  <a:pt x="0" y="0"/>
                </a:lnTo>
                <a:close/>
              </a:path>
            </a:pathLst>
          </a:custGeom>
          <a:blipFill rotWithShape="1">
            <a:blip r:embed="rId5">
              <a:alphaModFix/>
            </a:blip>
            <a:stretch>
              <a:fillRect b="0" l="0" r="0" t="0"/>
            </a:stretch>
          </a:blipFill>
          <a:ln>
            <a:noFill/>
          </a:ln>
        </p:spPr>
      </p:sp>
      <p:sp>
        <p:nvSpPr>
          <p:cNvPr id="147" name="Google Shape;147;p8"/>
          <p:cNvSpPr/>
          <p:nvPr/>
        </p:nvSpPr>
        <p:spPr>
          <a:xfrm>
            <a:off x="7839160" y="6626043"/>
            <a:ext cx="3925880" cy="1149091"/>
          </a:xfrm>
          <a:custGeom>
            <a:rect b="b" l="l" r="r" t="t"/>
            <a:pathLst>
              <a:path extrusionOk="0" h="1149091" w="3925880">
                <a:moveTo>
                  <a:pt x="0" y="0"/>
                </a:moveTo>
                <a:lnTo>
                  <a:pt x="3925880" y="0"/>
                </a:lnTo>
                <a:lnTo>
                  <a:pt x="3925880" y="1149091"/>
                </a:lnTo>
                <a:lnTo>
                  <a:pt x="0" y="1149091"/>
                </a:lnTo>
                <a:lnTo>
                  <a:pt x="0" y="0"/>
                </a:lnTo>
                <a:close/>
              </a:path>
            </a:pathLst>
          </a:custGeom>
          <a:blipFill rotWithShape="1">
            <a:blip r:embed="rId6">
              <a:alphaModFix/>
            </a:blip>
            <a:stretch>
              <a:fillRect b="0" l="0" r="0" t="0"/>
            </a:stretch>
          </a:blipFill>
          <a:ln>
            <a:noFill/>
          </a:ln>
        </p:spPr>
      </p:sp>
      <p:sp>
        <p:nvSpPr>
          <p:cNvPr id="148" name="Google Shape;148;p8"/>
          <p:cNvSpPr txBox="1"/>
          <p:nvPr/>
        </p:nvSpPr>
        <p:spPr>
          <a:xfrm>
            <a:off x="1840885" y="2732415"/>
            <a:ext cx="5186089" cy="3863349"/>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74" u="none" cap="none" strike="noStrike">
                <a:solidFill>
                  <a:srgbClr val="000000"/>
                </a:solidFill>
                <a:latin typeface="Open Sans"/>
                <a:ea typeface="Open Sans"/>
                <a:cs typeface="Open Sans"/>
                <a:sym typeface="Open Sans"/>
              </a:rPr>
              <a:t>Also, when attempting to create a task that must be completed on the same day, it schedules it as if the deadline </a:t>
            </a:r>
            <a:r>
              <a:rPr b="1" i="0" lang="en-US" sz="2774" u="none" cap="none" strike="noStrike">
                <a:solidFill>
                  <a:srgbClr val="000000"/>
                </a:solidFill>
                <a:latin typeface="Open Sans"/>
                <a:ea typeface="Open Sans"/>
                <a:cs typeface="Open Sans"/>
                <a:sym typeface="Open Sans"/>
              </a:rPr>
              <a:t>were the previous day</a:t>
            </a:r>
            <a:r>
              <a:rPr b="0" i="0" lang="en-US" sz="2774" u="none" cap="none" strike="noStrike">
                <a:solidFill>
                  <a:srgbClr val="000000"/>
                </a:solidFill>
                <a:latin typeface="Open Sans"/>
                <a:ea typeface="Open Sans"/>
                <a:cs typeface="Open Sans"/>
                <a:sym typeface="Open Sans"/>
              </a:rPr>
              <a:t> when it should be the current date, in this case the same date of creation.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p:nvPr/>
        </p:nvSpPr>
        <p:spPr>
          <a:xfrm>
            <a:off x="1028700" y="1365916"/>
            <a:ext cx="6810460" cy="6674251"/>
          </a:xfrm>
          <a:custGeom>
            <a:rect b="b" l="l" r="r" t="t"/>
            <a:pathLst>
              <a:path extrusionOk="0" h="6674251" w="6810460">
                <a:moveTo>
                  <a:pt x="0" y="0"/>
                </a:moveTo>
                <a:lnTo>
                  <a:pt x="6810460" y="0"/>
                </a:lnTo>
                <a:lnTo>
                  <a:pt x="6810460" y="6674251"/>
                </a:lnTo>
                <a:lnTo>
                  <a:pt x="0" y="6674251"/>
                </a:lnTo>
                <a:lnTo>
                  <a:pt x="0" y="0"/>
                </a:lnTo>
                <a:close/>
              </a:path>
            </a:pathLst>
          </a:custGeom>
          <a:blipFill rotWithShape="1">
            <a:blip r:embed="rId3">
              <a:alphaModFix/>
            </a:blip>
            <a:stretch>
              <a:fillRect b="0" l="0" r="0" t="0"/>
            </a:stretch>
          </a:blipFill>
          <a:ln>
            <a:noFill/>
          </a:ln>
        </p:spPr>
      </p:sp>
      <p:sp>
        <p:nvSpPr>
          <p:cNvPr id="154" name="Google Shape;154;p9"/>
          <p:cNvSpPr/>
          <p:nvPr/>
        </p:nvSpPr>
        <p:spPr>
          <a:xfrm>
            <a:off x="7839160" y="6058684"/>
            <a:ext cx="3925880" cy="1149091"/>
          </a:xfrm>
          <a:custGeom>
            <a:rect b="b" l="l" r="r" t="t"/>
            <a:pathLst>
              <a:path extrusionOk="0" h="1149091" w="3925880">
                <a:moveTo>
                  <a:pt x="0" y="0"/>
                </a:moveTo>
                <a:lnTo>
                  <a:pt x="3925880" y="0"/>
                </a:lnTo>
                <a:lnTo>
                  <a:pt x="3925880" y="1149091"/>
                </a:lnTo>
                <a:lnTo>
                  <a:pt x="0" y="1149091"/>
                </a:lnTo>
                <a:lnTo>
                  <a:pt x="0" y="0"/>
                </a:lnTo>
                <a:close/>
              </a:path>
            </a:pathLst>
          </a:custGeom>
          <a:blipFill rotWithShape="1">
            <a:blip r:embed="rId4">
              <a:alphaModFix/>
            </a:blip>
            <a:stretch>
              <a:fillRect b="0" l="0" r="0" t="0"/>
            </a:stretch>
          </a:blipFill>
          <a:ln>
            <a:noFill/>
          </a:ln>
        </p:spPr>
      </p:sp>
      <p:sp>
        <p:nvSpPr>
          <p:cNvPr id="155" name="Google Shape;155;p9"/>
          <p:cNvSpPr/>
          <p:nvPr/>
        </p:nvSpPr>
        <p:spPr>
          <a:xfrm>
            <a:off x="8303909" y="2780040"/>
            <a:ext cx="9984091" cy="2298820"/>
          </a:xfrm>
          <a:custGeom>
            <a:rect b="b" l="l" r="r" t="t"/>
            <a:pathLst>
              <a:path extrusionOk="0" h="2298820" w="9984091">
                <a:moveTo>
                  <a:pt x="0" y="0"/>
                </a:moveTo>
                <a:lnTo>
                  <a:pt x="9984091" y="0"/>
                </a:lnTo>
                <a:lnTo>
                  <a:pt x="9984091" y="2298821"/>
                </a:lnTo>
                <a:lnTo>
                  <a:pt x="0" y="2298821"/>
                </a:lnTo>
                <a:lnTo>
                  <a:pt x="0" y="0"/>
                </a:lnTo>
                <a:close/>
              </a:path>
            </a:pathLst>
          </a:custGeom>
          <a:blipFill rotWithShape="1">
            <a:blip r:embed="rId5">
              <a:alphaModFix/>
            </a:blip>
            <a:stretch>
              <a:fillRect b="0" l="0" r="0" t="0"/>
            </a:stretch>
          </a:blipFill>
          <a:ln>
            <a:noFill/>
          </a:ln>
        </p:spPr>
      </p:sp>
      <p:sp>
        <p:nvSpPr>
          <p:cNvPr id="156" name="Google Shape;156;p9"/>
          <p:cNvSpPr txBox="1"/>
          <p:nvPr/>
        </p:nvSpPr>
        <p:spPr>
          <a:xfrm>
            <a:off x="1840885" y="2713365"/>
            <a:ext cx="5186089" cy="3919864"/>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0" lang="en-US" sz="3174" u="none" cap="none" strike="noStrike">
                <a:solidFill>
                  <a:srgbClr val="000000"/>
                </a:solidFill>
                <a:latin typeface="Open Sans"/>
                <a:ea typeface="Open Sans"/>
                <a:cs typeface="Open Sans"/>
                <a:sym typeface="Open Sans"/>
              </a:rPr>
              <a:t>The same thing happens if I assign a </a:t>
            </a:r>
            <a:r>
              <a:rPr b="1" i="0" lang="en-US" sz="3174" u="none" cap="none" strike="noStrike">
                <a:solidFill>
                  <a:srgbClr val="000000"/>
                </a:solidFill>
                <a:latin typeface="Open Sans"/>
                <a:ea typeface="Open Sans"/>
                <a:cs typeface="Open Sans"/>
                <a:sym typeface="Open Sans"/>
              </a:rPr>
              <a:t>task for the next day:</a:t>
            </a:r>
            <a:r>
              <a:rPr b="0" i="0" lang="en-US" sz="3174" u="none" cap="none" strike="noStrike">
                <a:solidFill>
                  <a:srgbClr val="000000"/>
                </a:solidFill>
                <a:latin typeface="Open Sans"/>
                <a:ea typeface="Open Sans"/>
                <a:cs typeface="Open Sans"/>
                <a:sym typeface="Open Sans"/>
              </a:rPr>
              <a:t> it </a:t>
            </a:r>
            <a:r>
              <a:rPr b="1" i="0" lang="en-US" sz="3174" u="none" cap="none" strike="noStrike">
                <a:solidFill>
                  <a:srgbClr val="000000"/>
                </a:solidFill>
                <a:latin typeface="Open Sans"/>
                <a:ea typeface="Open Sans"/>
                <a:cs typeface="Open Sans"/>
                <a:sym typeface="Open Sans"/>
              </a:rPr>
              <a:t>marks it with the same day's deadline</a:t>
            </a:r>
            <a:r>
              <a:rPr b="0" i="0" lang="en-US" sz="3174" u="none" cap="none" strike="noStrike">
                <a:solidFill>
                  <a:srgbClr val="000000"/>
                </a:solidFill>
                <a:latin typeface="Open Sans"/>
                <a:ea typeface="Open Sans"/>
                <a:cs typeface="Open Sans"/>
                <a:sym typeface="Open Sans"/>
              </a:rPr>
              <a:t>, when it should indicate that it is for the next day until a certain time.</a:t>
            </a:r>
            <a:endParaRPr/>
          </a:p>
        </p:txBody>
      </p:sp>
      <p:sp>
        <p:nvSpPr>
          <p:cNvPr id="157" name="Google Shape;157;p9"/>
          <p:cNvSpPr/>
          <p:nvPr/>
        </p:nvSpPr>
        <p:spPr>
          <a:xfrm rot="-5400000">
            <a:off x="12238758" y="2100723"/>
            <a:ext cx="541480" cy="5414796"/>
          </a:xfrm>
          <a:custGeom>
            <a:rect b="b" l="l" r="r" t="t"/>
            <a:pathLst>
              <a:path extrusionOk="0" h="5414796" w="541480">
                <a:moveTo>
                  <a:pt x="0" y="0"/>
                </a:moveTo>
                <a:lnTo>
                  <a:pt x="541480" y="0"/>
                </a:lnTo>
                <a:lnTo>
                  <a:pt x="541480" y="5414796"/>
                </a:lnTo>
                <a:lnTo>
                  <a:pt x="0" y="541479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p:nvPr/>
        </p:nvSpPr>
        <p:spPr>
          <a:xfrm>
            <a:off x="644084" y="759028"/>
            <a:ext cx="11985880" cy="9285595"/>
          </a:xfrm>
          <a:custGeom>
            <a:rect b="b" l="l" r="r" t="t"/>
            <a:pathLst>
              <a:path extrusionOk="0" h="9285595" w="11985880">
                <a:moveTo>
                  <a:pt x="0" y="0"/>
                </a:moveTo>
                <a:lnTo>
                  <a:pt x="11985879" y="0"/>
                </a:lnTo>
                <a:lnTo>
                  <a:pt x="11985879" y="9285594"/>
                </a:lnTo>
                <a:lnTo>
                  <a:pt x="0" y="9285594"/>
                </a:lnTo>
                <a:lnTo>
                  <a:pt x="0" y="0"/>
                </a:lnTo>
                <a:close/>
              </a:path>
            </a:pathLst>
          </a:custGeom>
          <a:blipFill rotWithShape="1">
            <a:blip r:embed="rId3">
              <a:alphaModFix/>
            </a:blip>
            <a:stretch>
              <a:fillRect b="-3108" l="0" r="-768" t="0"/>
            </a:stretch>
          </a:blipFill>
          <a:ln>
            <a:noFill/>
          </a:ln>
        </p:spPr>
      </p:sp>
      <p:sp>
        <p:nvSpPr>
          <p:cNvPr id="163" name="Google Shape;163;p10"/>
          <p:cNvSpPr/>
          <p:nvPr/>
        </p:nvSpPr>
        <p:spPr>
          <a:xfrm>
            <a:off x="10580946" y="4374854"/>
            <a:ext cx="5785478" cy="5669769"/>
          </a:xfrm>
          <a:custGeom>
            <a:rect b="b" l="l" r="r" t="t"/>
            <a:pathLst>
              <a:path extrusionOk="0" h="5669769" w="5785478">
                <a:moveTo>
                  <a:pt x="0" y="0"/>
                </a:moveTo>
                <a:lnTo>
                  <a:pt x="5785478" y="0"/>
                </a:lnTo>
                <a:lnTo>
                  <a:pt x="5785478" y="5669768"/>
                </a:lnTo>
                <a:lnTo>
                  <a:pt x="0" y="5669768"/>
                </a:lnTo>
                <a:lnTo>
                  <a:pt x="0" y="0"/>
                </a:lnTo>
                <a:close/>
              </a:path>
            </a:pathLst>
          </a:custGeom>
          <a:blipFill rotWithShape="1">
            <a:blip r:embed="rId4">
              <a:alphaModFix/>
            </a:blip>
            <a:stretch>
              <a:fillRect b="0" l="0" r="0" t="0"/>
            </a:stretch>
          </a:blipFill>
          <a:ln>
            <a:noFill/>
          </a:ln>
        </p:spPr>
      </p:sp>
      <p:sp>
        <p:nvSpPr>
          <p:cNvPr id="164" name="Google Shape;164;p10"/>
          <p:cNvSpPr txBox="1"/>
          <p:nvPr/>
        </p:nvSpPr>
        <p:spPr>
          <a:xfrm>
            <a:off x="10956723" y="4771464"/>
            <a:ext cx="5034000" cy="54720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599" u="none" cap="none" strike="noStrike">
                <a:solidFill>
                  <a:srgbClr val="000000"/>
                </a:solidFill>
                <a:latin typeface="Open Sans"/>
                <a:ea typeface="Open Sans"/>
                <a:cs typeface="Open Sans"/>
                <a:sym typeface="Open Sans"/>
              </a:rPr>
              <a:t>I schedule all activities as important even though they have different intervals.</a:t>
            </a:r>
            <a:endParaRPr sz="1200"/>
          </a:p>
          <a:p>
            <a:pPr indent="0" lvl="0" marL="0" marR="0" rtl="0" algn="ctr">
              <a:lnSpc>
                <a:spcPct val="140014"/>
              </a:lnSpc>
              <a:spcBef>
                <a:spcPts val="0"/>
              </a:spcBef>
              <a:spcAft>
                <a:spcPts val="0"/>
              </a:spcAft>
              <a:buNone/>
            </a:pPr>
            <a:r>
              <a:rPr b="0" i="0" lang="en-US" sz="2599" u="none" cap="none" strike="noStrike">
                <a:solidFill>
                  <a:srgbClr val="000000"/>
                </a:solidFill>
                <a:latin typeface="Open Sans"/>
                <a:ea typeface="Open Sans"/>
                <a:cs typeface="Open Sans"/>
                <a:sym typeface="Open Sans"/>
              </a:rPr>
              <a:t>Schedule all activities as important, even if they have different deadlines, and there is no help option on how to place them in the “do,” “decide,” “delegate,” and “delete” sections.</a:t>
            </a:r>
            <a:endParaRPr sz="1200"/>
          </a:p>
          <a:p>
            <a:pPr indent="0" lvl="0" marL="0" marR="0" rtl="0" algn="ctr">
              <a:lnSpc>
                <a:spcPct val="140014"/>
              </a:lnSpc>
              <a:spcBef>
                <a:spcPts val="0"/>
              </a:spcBef>
              <a:spcAft>
                <a:spcPts val="0"/>
              </a:spcAft>
              <a:buNone/>
            </a:pPr>
            <a:r>
              <a:t/>
            </a:r>
            <a:endParaRPr b="0" i="0" sz="2799" u="none" cap="none" strike="noStrike">
              <a:solidFill>
                <a:srgbClr val="000000"/>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p:nvPr/>
        </p:nvSpPr>
        <p:spPr>
          <a:xfrm>
            <a:off x="234449" y="1273298"/>
            <a:ext cx="17819102" cy="2715575"/>
          </a:xfrm>
          <a:custGeom>
            <a:rect b="b" l="l" r="r" t="t"/>
            <a:pathLst>
              <a:path extrusionOk="0" h="2715575" w="17819102">
                <a:moveTo>
                  <a:pt x="0" y="0"/>
                </a:moveTo>
                <a:lnTo>
                  <a:pt x="17819102" y="0"/>
                </a:lnTo>
                <a:lnTo>
                  <a:pt x="17819102" y="2715575"/>
                </a:lnTo>
                <a:lnTo>
                  <a:pt x="0" y="2715575"/>
                </a:lnTo>
                <a:lnTo>
                  <a:pt x="0" y="0"/>
                </a:lnTo>
                <a:close/>
              </a:path>
            </a:pathLst>
          </a:custGeom>
          <a:blipFill rotWithShape="1">
            <a:blip r:embed="rId3">
              <a:alphaModFix/>
            </a:blip>
            <a:stretch>
              <a:fillRect b="-429493" l="0" r="-25499" t="0"/>
            </a:stretch>
          </a:blipFill>
          <a:ln>
            <a:noFill/>
          </a:ln>
        </p:spPr>
      </p:sp>
      <p:grpSp>
        <p:nvGrpSpPr>
          <p:cNvPr id="170" name="Google Shape;170;p11"/>
          <p:cNvGrpSpPr/>
          <p:nvPr/>
        </p:nvGrpSpPr>
        <p:grpSpPr>
          <a:xfrm>
            <a:off x="3227440" y="4488669"/>
            <a:ext cx="9347416" cy="5258827"/>
            <a:chOff x="0" y="-47625"/>
            <a:chExt cx="1458887" cy="820765"/>
          </a:xfrm>
        </p:grpSpPr>
        <p:sp>
          <p:nvSpPr>
            <p:cNvPr id="171" name="Google Shape;171;p11"/>
            <p:cNvSpPr/>
            <p:nvPr/>
          </p:nvSpPr>
          <p:spPr>
            <a:xfrm>
              <a:off x="0" y="0"/>
              <a:ext cx="1458887" cy="773140"/>
            </a:xfrm>
            <a:custGeom>
              <a:rect b="b" l="l" r="r" t="t"/>
              <a:pathLst>
                <a:path extrusionOk="0" h="773140" w="1458887">
                  <a:moveTo>
                    <a:pt x="38927" y="0"/>
                  </a:moveTo>
                  <a:lnTo>
                    <a:pt x="1419959" y="0"/>
                  </a:lnTo>
                  <a:cubicBezTo>
                    <a:pt x="1441458" y="0"/>
                    <a:pt x="1458887" y="17428"/>
                    <a:pt x="1458887" y="38927"/>
                  </a:cubicBezTo>
                  <a:lnTo>
                    <a:pt x="1458887" y="734213"/>
                  </a:lnTo>
                  <a:cubicBezTo>
                    <a:pt x="1458887" y="755712"/>
                    <a:pt x="1441458" y="773140"/>
                    <a:pt x="1419959" y="773140"/>
                  </a:cubicBezTo>
                  <a:lnTo>
                    <a:pt x="38927" y="773140"/>
                  </a:lnTo>
                  <a:cubicBezTo>
                    <a:pt x="28603" y="773140"/>
                    <a:pt x="18702" y="769039"/>
                    <a:pt x="11402" y="761738"/>
                  </a:cubicBezTo>
                  <a:cubicBezTo>
                    <a:pt x="4101" y="754438"/>
                    <a:pt x="0" y="744537"/>
                    <a:pt x="0" y="734213"/>
                  </a:cubicBezTo>
                  <a:lnTo>
                    <a:pt x="0" y="38927"/>
                  </a:lnTo>
                  <a:cubicBezTo>
                    <a:pt x="0" y="17428"/>
                    <a:pt x="17428" y="0"/>
                    <a:pt x="38927" y="0"/>
                  </a:cubicBezTo>
                  <a:close/>
                </a:path>
              </a:pathLst>
            </a:custGeom>
            <a:solidFill>
              <a:srgbClr val="EBB6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txBox="1"/>
            <p:nvPr/>
          </p:nvSpPr>
          <p:spPr>
            <a:xfrm>
              <a:off x="0" y="-47625"/>
              <a:ext cx="1458887" cy="820765"/>
            </a:xfrm>
            <a:prstGeom prst="rect">
              <a:avLst/>
            </a:prstGeom>
            <a:noFill/>
            <a:ln>
              <a:noFill/>
            </a:ln>
          </p:spPr>
          <p:txBody>
            <a:bodyPr anchorCtr="0" anchor="ctr" bIns="50800" lIns="50800" spcFirstLastPara="1" rIns="50800" wrap="square" tIns="50800">
              <a:noAutofit/>
            </a:bodyPr>
            <a:lstStyle/>
            <a:p>
              <a:pPr indent="0" lvl="0" marL="0" marR="0" rtl="0" algn="ctr">
                <a:lnSpc>
                  <a:spcPct val="140013"/>
                </a:lnSpc>
                <a:spcBef>
                  <a:spcPts val="0"/>
                </a:spcBef>
                <a:spcAft>
                  <a:spcPts val="0"/>
                </a:spcAft>
                <a:buNone/>
              </a:pPr>
              <a:r>
                <a:rPr b="0" i="0" lang="en-US" sz="2999" u="none" cap="none" strike="noStrike">
                  <a:solidFill>
                    <a:srgbClr val="000000"/>
                  </a:solidFill>
                  <a:latin typeface="Open Sans"/>
                  <a:ea typeface="Open Sans"/>
                  <a:cs typeface="Open Sans"/>
                  <a:sym typeface="Open Sans"/>
                </a:rPr>
                <a:t>In the “Brainstorming” section, I think i</a:t>
              </a:r>
              <a:r>
                <a:rPr b="1" i="0" lang="en-US" sz="2999" u="none" cap="none" strike="noStrike">
                  <a:solidFill>
                    <a:srgbClr val="000000"/>
                  </a:solidFill>
                  <a:latin typeface="Open Sans"/>
                  <a:ea typeface="Open Sans"/>
                  <a:cs typeface="Open Sans"/>
                  <a:sym typeface="Open Sans"/>
                </a:rPr>
                <a:t>t should be more attractive</a:t>
              </a:r>
              <a:r>
                <a:rPr b="0" i="0" lang="en-US" sz="2999" u="none" cap="none" strike="noStrike">
                  <a:solidFill>
                    <a:srgbClr val="000000"/>
                  </a:solidFill>
                  <a:latin typeface="Open Sans"/>
                  <a:ea typeface="Open Sans"/>
                  <a:cs typeface="Open Sans"/>
                  <a:sym typeface="Open Sans"/>
                </a:rPr>
                <a:t>, where you can create several sections to organize ideas, instead of a simple table</a:t>
              </a:r>
              <a:r>
                <a:rPr b="1" i="0" lang="en-US" sz="2999" u="none" cap="none" strike="noStrike">
                  <a:solidFill>
                    <a:srgbClr val="000000"/>
                  </a:solidFill>
                  <a:latin typeface="Open Sans"/>
                  <a:ea typeface="Open Sans"/>
                  <a:cs typeface="Open Sans"/>
                  <a:sym typeface="Open Sans"/>
                </a:rPr>
                <a:t>. It should be possible to create different pages </a:t>
              </a:r>
              <a:r>
                <a:rPr b="0" i="0" lang="en-US" sz="2999" u="none" cap="none" strike="noStrike">
                  <a:solidFill>
                    <a:srgbClr val="000000"/>
                  </a:solidFill>
                  <a:latin typeface="Open Sans"/>
                  <a:ea typeface="Open Sans"/>
                  <a:cs typeface="Open Sans"/>
                  <a:sym typeface="Open Sans"/>
                </a:rPr>
                <a:t>so that ideas are clear about how they will be used and in what way.</a:t>
              </a:r>
              <a:endParaRPr/>
            </a:p>
          </p:txBody>
        </p:sp>
      </p:grpSp>
      <p:sp>
        <p:nvSpPr>
          <p:cNvPr id="173" name="Google Shape;173;p11"/>
          <p:cNvSpPr/>
          <p:nvPr/>
        </p:nvSpPr>
        <p:spPr>
          <a:xfrm rot="6967588">
            <a:off x="11994410" y="4282907"/>
            <a:ext cx="4959784" cy="3092668"/>
          </a:xfrm>
          <a:custGeom>
            <a:rect b="b" l="l" r="r" t="t"/>
            <a:pathLst>
              <a:path extrusionOk="0" h="3092668" w="4959784">
                <a:moveTo>
                  <a:pt x="0" y="0"/>
                </a:moveTo>
                <a:lnTo>
                  <a:pt x="4959785" y="0"/>
                </a:lnTo>
                <a:lnTo>
                  <a:pt x="4959785" y="3092669"/>
                </a:lnTo>
                <a:lnTo>
                  <a:pt x="0" y="3092669"/>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2"/>
          <p:cNvSpPr/>
          <p:nvPr/>
        </p:nvSpPr>
        <p:spPr>
          <a:xfrm>
            <a:off x="587489" y="914993"/>
            <a:ext cx="16671811" cy="9372007"/>
          </a:xfrm>
          <a:custGeom>
            <a:rect b="b" l="l" r="r" t="t"/>
            <a:pathLst>
              <a:path extrusionOk="0" h="9372007" w="16671811">
                <a:moveTo>
                  <a:pt x="0" y="0"/>
                </a:moveTo>
                <a:lnTo>
                  <a:pt x="16671811" y="0"/>
                </a:lnTo>
                <a:lnTo>
                  <a:pt x="16671811" y="9372007"/>
                </a:lnTo>
                <a:lnTo>
                  <a:pt x="0" y="9372007"/>
                </a:lnTo>
                <a:lnTo>
                  <a:pt x="0" y="0"/>
                </a:lnTo>
                <a:close/>
              </a:path>
            </a:pathLst>
          </a:custGeom>
          <a:blipFill rotWithShape="1">
            <a:blip r:embed="rId4">
              <a:alphaModFix/>
            </a:blip>
            <a:stretch>
              <a:fillRect b="0" l="0" r="0" t="0"/>
            </a:stretch>
          </a:blipFill>
          <a:ln>
            <a:noFill/>
          </a:ln>
        </p:spPr>
      </p:sp>
      <p:sp>
        <p:nvSpPr>
          <p:cNvPr id="179" name="Google Shape;179;p12"/>
          <p:cNvSpPr/>
          <p:nvPr/>
        </p:nvSpPr>
        <p:spPr>
          <a:xfrm>
            <a:off x="10898623" y="4469079"/>
            <a:ext cx="5785478" cy="5669769"/>
          </a:xfrm>
          <a:custGeom>
            <a:rect b="b" l="l" r="r" t="t"/>
            <a:pathLst>
              <a:path extrusionOk="0" h="5669769" w="5785478">
                <a:moveTo>
                  <a:pt x="0" y="0"/>
                </a:moveTo>
                <a:lnTo>
                  <a:pt x="5785478" y="0"/>
                </a:lnTo>
                <a:lnTo>
                  <a:pt x="5785478" y="5669769"/>
                </a:lnTo>
                <a:lnTo>
                  <a:pt x="0" y="5669769"/>
                </a:lnTo>
                <a:lnTo>
                  <a:pt x="0" y="0"/>
                </a:lnTo>
                <a:close/>
              </a:path>
            </a:pathLst>
          </a:custGeom>
          <a:blipFill rotWithShape="1">
            <a:blip r:embed="rId5">
              <a:alphaModFix/>
            </a:blip>
            <a:stretch>
              <a:fillRect b="0" l="0" r="0" t="0"/>
            </a:stretch>
          </a:blipFill>
          <a:ln>
            <a:noFill/>
          </a:ln>
        </p:spPr>
      </p:sp>
      <p:sp>
        <p:nvSpPr>
          <p:cNvPr id="180" name="Google Shape;180;p12"/>
          <p:cNvSpPr/>
          <p:nvPr/>
        </p:nvSpPr>
        <p:spPr>
          <a:xfrm rot="-6749852">
            <a:off x="8969850" y="3300906"/>
            <a:ext cx="2773757" cy="811868"/>
          </a:xfrm>
          <a:custGeom>
            <a:rect b="b" l="l" r="r" t="t"/>
            <a:pathLst>
              <a:path extrusionOk="0" h="811868" w="2773757">
                <a:moveTo>
                  <a:pt x="0" y="0"/>
                </a:moveTo>
                <a:lnTo>
                  <a:pt x="2773757" y="0"/>
                </a:lnTo>
                <a:lnTo>
                  <a:pt x="2773757" y="811869"/>
                </a:lnTo>
                <a:lnTo>
                  <a:pt x="0" y="811869"/>
                </a:lnTo>
                <a:lnTo>
                  <a:pt x="0" y="0"/>
                </a:lnTo>
                <a:close/>
              </a:path>
            </a:pathLst>
          </a:custGeom>
          <a:blipFill rotWithShape="1">
            <a:blip r:embed="rId6">
              <a:alphaModFix/>
            </a:blip>
            <a:stretch>
              <a:fillRect b="0" l="0" r="0" t="0"/>
            </a:stretch>
          </a:blipFill>
          <a:ln>
            <a:noFill/>
          </a:ln>
        </p:spPr>
      </p:sp>
      <p:sp>
        <p:nvSpPr>
          <p:cNvPr id="181" name="Google Shape;181;p12"/>
          <p:cNvSpPr txBox="1"/>
          <p:nvPr/>
        </p:nvSpPr>
        <p:spPr>
          <a:xfrm>
            <a:off x="11262449" y="4711893"/>
            <a:ext cx="4690800" cy="52782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US" sz="2899" u="none" cap="none" strike="noStrike">
                <a:solidFill>
                  <a:srgbClr val="000000"/>
                </a:solidFill>
                <a:latin typeface="Open Sans"/>
                <a:ea typeface="Open Sans"/>
                <a:cs typeface="Open Sans"/>
                <a:sym typeface="Open Sans"/>
              </a:rPr>
              <a:t>I</a:t>
            </a:r>
            <a:r>
              <a:rPr b="0" i="0" lang="en-US" sz="2799" u="none" cap="none" strike="noStrike">
                <a:solidFill>
                  <a:srgbClr val="000000"/>
                </a:solidFill>
                <a:latin typeface="Open Sans"/>
                <a:ea typeface="Open Sans"/>
                <a:cs typeface="Open Sans"/>
                <a:sym typeface="Open Sans"/>
              </a:rPr>
              <a:t>n the music section, it is necessary to download it, which could </a:t>
            </a:r>
            <a:r>
              <a:rPr b="0" i="0" lang="en-US" sz="2799" u="none" cap="none" strike="noStrike">
                <a:solidFill>
                  <a:srgbClr val="000000"/>
                </a:solidFill>
                <a:latin typeface="Open Sans"/>
                <a:ea typeface="Open Sans"/>
                <a:cs typeface="Open Sans"/>
                <a:sym typeface="Open Sans"/>
                <a:extLst>
                  <a:ext uri="http://customooxmlschemas.google.com/">
                    <go:slidesCustomData xmlns:go="http://customooxmlschemas.google.com/" textRoundtripDataId="0"/>
                  </a:ext>
                </a:extLst>
              </a:rPr>
              <a:t>be</a:t>
            </a:r>
            <a:r>
              <a:rPr b="0" i="0" lang="en-US" sz="2799" u="none" cap="none" strike="noStrike">
                <a:solidFill>
                  <a:srgbClr val="000000"/>
                </a:solidFill>
                <a:latin typeface="Open Sans"/>
                <a:ea typeface="Open Sans"/>
                <a:cs typeface="Open Sans"/>
                <a:sym typeface="Open Sans"/>
              </a:rPr>
              <a:t> simplified so that</a:t>
            </a:r>
            <a:r>
              <a:rPr b="1" i="0" lang="en-US" sz="2799" u="none" cap="none" strike="noStrike">
                <a:solidFill>
                  <a:srgbClr val="000000"/>
                </a:solidFill>
                <a:latin typeface="Open Sans"/>
                <a:ea typeface="Open Sans"/>
                <a:cs typeface="Open Sans"/>
                <a:sym typeface="Open Sans"/>
              </a:rPr>
              <a:t> it is already included</a:t>
            </a:r>
            <a:r>
              <a:rPr b="0" i="0" lang="en-US" sz="2799" u="none" cap="none" strike="noStrike">
                <a:solidFill>
                  <a:srgbClr val="000000"/>
                </a:solidFill>
                <a:latin typeface="Open Sans"/>
                <a:ea typeface="Open Sans"/>
                <a:cs typeface="Open Sans"/>
                <a:sym typeface="Open Sans"/>
              </a:rPr>
              <a:t>. Once the music audio is downloaded, it plays, but </a:t>
            </a:r>
            <a:r>
              <a:rPr b="1" i="0" lang="en-US" sz="2799" u="none" cap="none" strike="noStrike">
                <a:solidFill>
                  <a:srgbClr val="000000"/>
                </a:solidFill>
                <a:latin typeface="Open Sans"/>
                <a:ea typeface="Open Sans"/>
                <a:cs typeface="Open Sans"/>
                <a:sym typeface="Open Sans"/>
              </a:rPr>
              <a:t>the music does not sound </a:t>
            </a:r>
            <a:r>
              <a:rPr b="0" i="0" lang="en-US" sz="2799" u="none" cap="none" strike="noStrike">
                <a:solidFill>
                  <a:srgbClr val="000000"/>
                </a:solidFill>
                <a:latin typeface="Open Sans"/>
                <a:ea typeface="Open Sans"/>
                <a:cs typeface="Open Sans"/>
                <a:sym typeface="Open Sans"/>
              </a:rPr>
              <a:t>and ends without anything being heard.</a:t>
            </a:r>
            <a:endParaRPr sz="1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p:nvPr/>
        </p:nvSpPr>
        <p:spPr>
          <a:xfrm>
            <a:off x="0" y="1028700"/>
            <a:ext cx="18677072" cy="6029826"/>
          </a:xfrm>
          <a:custGeom>
            <a:rect b="b" l="l" r="r" t="t"/>
            <a:pathLst>
              <a:path extrusionOk="0" h="6029826" w="18677072">
                <a:moveTo>
                  <a:pt x="0" y="0"/>
                </a:moveTo>
                <a:lnTo>
                  <a:pt x="18677072" y="0"/>
                </a:lnTo>
                <a:lnTo>
                  <a:pt x="18677072" y="6029826"/>
                </a:lnTo>
                <a:lnTo>
                  <a:pt x="0" y="6029826"/>
                </a:lnTo>
                <a:lnTo>
                  <a:pt x="0" y="0"/>
                </a:lnTo>
                <a:close/>
              </a:path>
            </a:pathLst>
          </a:custGeom>
          <a:blipFill rotWithShape="1">
            <a:blip r:embed="rId4">
              <a:alphaModFix/>
            </a:blip>
            <a:stretch>
              <a:fillRect b="0" l="0" r="0" t="0"/>
            </a:stretch>
          </a:blipFill>
          <a:ln>
            <a:noFill/>
          </a:ln>
        </p:spPr>
      </p:sp>
      <p:grpSp>
        <p:nvGrpSpPr>
          <p:cNvPr id="187" name="Google Shape;187;p13"/>
          <p:cNvGrpSpPr/>
          <p:nvPr/>
        </p:nvGrpSpPr>
        <p:grpSpPr>
          <a:xfrm>
            <a:off x="4165089" y="5671098"/>
            <a:ext cx="12449207" cy="3587202"/>
            <a:chOff x="0" y="-57150"/>
            <a:chExt cx="1942995" cy="559868"/>
          </a:xfrm>
        </p:grpSpPr>
        <p:sp>
          <p:nvSpPr>
            <p:cNvPr id="188" name="Google Shape;188;p13"/>
            <p:cNvSpPr/>
            <p:nvPr/>
          </p:nvSpPr>
          <p:spPr>
            <a:xfrm>
              <a:off x="0" y="0"/>
              <a:ext cx="1942995" cy="502718"/>
            </a:xfrm>
            <a:custGeom>
              <a:rect b="b" l="l" r="r" t="t"/>
              <a:pathLst>
                <a:path extrusionOk="0" h="502718" w="1942995">
                  <a:moveTo>
                    <a:pt x="29228" y="0"/>
                  </a:moveTo>
                  <a:lnTo>
                    <a:pt x="1913766" y="0"/>
                  </a:lnTo>
                  <a:cubicBezTo>
                    <a:pt x="1921518" y="0"/>
                    <a:pt x="1928952" y="3079"/>
                    <a:pt x="1934434" y="8561"/>
                  </a:cubicBezTo>
                  <a:cubicBezTo>
                    <a:pt x="1939915" y="14042"/>
                    <a:pt x="1942995" y="21477"/>
                    <a:pt x="1942995" y="29228"/>
                  </a:cubicBezTo>
                  <a:lnTo>
                    <a:pt x="1942995" y="473490"/>
                  </a:lnTo>
                  <a:cubicBezTo>
                    <a:pt x="1942995" y="481242"/>
                    <a:pt x="1939915" y="488676"/>
                    <a:pt x="1934434" y="494157"/>
                  </a:cubicBezTo>
                  <a:cubicBezTo>
                    <a:pt x="1928952" y="499639"/>
                    <a:pt x="1921518" y="502718"/>
                    <a:pt x="1913766" y="502718"/>
                  </a:cubicBezTo>
                  <a:lnTo>
                    <a:pt x="29228" y="502718"/>
                  </a:lnTo>
                  <a:cubicBezTo>
                    <a:pt x="21477" y="502718"/>
                    <a:pt x="14042" y="499639"/>
                    <a:pt x="8561" y="494157"/>
                  </a:cubicBezTo>
                  <a:cubicBezTo>
                    <a:pt x="3079" y="488676"/>
                    <a:pt x="0" y="481242"/>
                    <a:pt x="0" y="473490"/>
                  </a:cubicBezTo>
                  <a:lnTo>
                    <a:pt x="0" y="29228"/>
                  </a:lnTo>
                  <a:cubicBezTo>
                    <a:pt x="0" y="21477"/>
                    <a:pt x="3079" y="14042"/>
                    <a:pt x="8561" y="8561"/>
                  </a:cubicBezTo>
                  <a:cubicBezTo>
                    <a:pt x="14042" y="3079"/>
                    <a:pt x="21477" y="0"/>
                    <a:pt x="29228" y="0"/>
                  </a:cubicBezTo>
                  <a:close/>
                </a:path>
              </a:pathLst>
            </a:custGeom>
            <a:solidFill>
              <a:srgbClr val="EBB6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3"/>
            <p:cNvSpPr txBox="1"/>
            <p:nvPr/>
          </p:nvSpPr>
          <p:spPr>
            <a:xfrm>
              <a:off x="0" y="-57150"/>
              <a:ext cx="1942995" cy="559868"/>
            </a:xfrm>
            <a:prstGeom prst="rect">
              <a:avLst/>
            </a:prstGeom>
            <a:noFill/>
            <a:ln>
              <a:noFill/>
            </a:ln>
          </p:spPr>
          <p:txBody>
            <a:bodyPr anchorCtr="0" anchor="ctr" bIns="50800" lIns="50800" spcFirstLastPara="1" rIns="50800" wrap="square" tIns="50800">
              <a:noAutofit/>
            </a:bodyPr>
            <a:lstStyle/>
            <a:p>
              <a:pPr indent="0" lvl="0" marL="0" marR="0" rtl="0" algn="ctr">
                <a:lnSpc>
                  <a:spcPct val="140014"/>
                </a:lnSpc>
                <a:spcBef>
                  <a:spcPts val="0"/>
                </a:spcBef>
                <a:spcAft>
                  <a:spcPts val="0"/>
                </a:spcAft>
                <a:buNone/>
              </a:pPr>
              <a:r>
                <a:rPr b="0" i="0" lang="en-US" sz="2699" u="none" cap="none" strike="noStrike">
                  <a:solidFill>
                    <a:srgbClr val="000000"/>
                  </a:solidFill>
                  <a:latin typeface="Open Sans"/>
                  <a:ea typeface="Open Sans"/>
                  <a:cs typeface="Open Sans"/>
                  <a:sym typeface="Open Sans"/>
                </a:rPr>
                <a:t>In the motivation section, under “motivational talk,” if you select the type of talk you want, </a:t>
              </a:r>
              <a:r>
                <a:rPr b="1" i="0" lang="en-US" sz="2699" u="none" cap="none" strike="noStrike">
                  <a:solidFill>
                    <a:srgbClr val="000000"/>
                  </a:solidFill>
                  <a:latin typeface="Open Sans"/>
                  <a:ea typeface="Open Sans"/>
                  <a:cs typeface="Open Sans"/>
                  <a:sym typeface="Open Sans"/>
                </a:rPr>
                <a:t>it doesn't provide it</a:t>
              </a:r>
              <a:r>
                <a:rPr b="0" i="0" lang="en-US" sz="2699" u="none" cap="none" strike="noStrike">
                  <a:solidFill>
                    <a:srgbClr val="000000"/>
                  </a:solidFill>
                  <a:latin typeface="Open Sans"/>
                  <a:ea typeface="Open Sans"/>
                  <a:cs typeface="Open Sans"/>
                  <a:sym typeface="Open Sans"/>
                </a:rPr>
                <a:t>, it just gives you an inspirational quote. This inspirational quote could also be added at the beginning and end of the day, or after each concentration session or at the end of a routine, to make users feel satisfied.</a:t>
              </a:r>
              <a:endParaRPr/>
            </a:p>
          </p:txBody>
        </p:sp>
      </p:grpSp>
      <p:grpSp>
        <p:nvGrpSpPr>
          <p:cNvPr id="190" name="Google Shape;190;p13"/>
          <p:cNvGrpSpPr/>
          <p:nvPr/>
        </p:nvGrpSpPr>
        <p:grpSpPr>
          <a:xfrm>
            <a:off x="3827852" y="2075403"/>
            <a:ext cx="13123682" cy="3307925"/>
            <a:chOff x="0" y="0"/>
            <a:chExt cx="3456443" cy="871223"/>
          </a:xfrm>
        </p:grpSpPr>
        <p:sp>
          <p:nvSpPr>
            <p:cNvPr id="191" name="Google Shape;191;p13"/>
            <p:cNvSpPr/>
            <p:nvPr/>
          </p:nvSpPr>
          <p:spPr>
            <a:xfrm>
              <a:off x="0" y="0"/>
              <a:ext cx="3456443" cy="871223"/>
            </a:xfrm>
            <a:custGeom>
              <a:rect b="b" l="l" r="r" t="t"/>
              <a:pathLst>
                <a:path extrusionOk="0" h="871223" w="3456443">
                  <a:moveTo>
                    <a:pt x="1728221" y="0"/>
                  </a:moveTo>
                  <a:cubicBezTo>
                    <a:pt x="773751" y="0"/>
                    <a:pt x="0" y="195030"/>
                    <a:pt x="0" y="435612"/>
                  </a:cubicBezTo>
                  <a:cubicBezTo>
                    <a:pt x="0" y="676193"/>
                    <a:pt x="773751" y="871223"/>
                    <a:pt x="1728221" y="871223"/>
                  </a:cubicBezTo>
                  <a:cubicBezTo>
                    <a:pt x="2682692" y="871223"/>
                    <a:pt x="3456443" y="676193"/>
                    <a:pt x="3456443" y="435612"/>
                  </a:cubicBezTo>
                  <a:cubicBezTo>
                    <a:pt x="3456443" y="195030"/>
                    <a:pt x="2682692" y="0"/>
                    <a:pt x="1728221" y="0"/>
                  </a:cubicBezTo>
                  <a:close/>
                </a:path>
              </a:pathLst>
            </a:custGeom>
            <a:noFill/>
            <a:ln cap="sq" cmpd="sng" w="381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
            <p:cNvSpPr txBox="1"/>
            <p:nvPr/>
          </p:nvSpPr>
          <p:spPr>
            <a:xfrm>
              <a:off x="324042" y="43577"/>
              <a:ext cx="2808360" cy="74596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4"/>
          <p:cNvSpPr/>
          <p:nvPr/>
        </p:nvSpPr>
        <p:spPr>
          <a:xfrm>
            <a:off x="351116" y="364874"/>
            <a:ext cx="12624079" cy="6659273"/>
          </a:xfrm>
          <a:custGeom>
            <a:rect b="b" l="l" r="r" t="t"/>
            <a:pathLst>
              <a:path extrusionOk="0" h="6659273" w="12624079">
                <a:moveTo>
                  <a:pt x="0" y="0"/>
                </a:moveTo>
                <a:lnTo>
                  <a:pt x="12624078" y="0"/>
                </a:lnTo>
                <a:lnTo>
                  <a:pt x="12624078" y="6659273"/>
                </a:lnTo>
                <a:lnTo>
                  <a:pt x="0" y="6659273"/>
                </a:lnTo>
                <a:lnTo>
                  <a:pt x="0" y="0"/>
                </a:lnTo>
                <a:close/>
              </a:path>
            </a:pathLst>
          </a:custGeom>
          <a:blipFill rotWithShape="1">
            <a:blip r:embed="rId3">
              <a:alphaModFix/>
            </a:blip>
            <a:stretch>
              <a:fillRect b="0" l="0" r="0" t="0"/>
            </a:stretch>
          </a:blipFill>
          <a:ln>
            <a:noFill/>
          </a:ln>
        </p:spPr>
      </p:sp>
      <p:sp>
        <p:nvSpPr>
          <p:cNvPr id="198" name="Google Shape;198;p14"/>
          <p:cNvSpPr/>
          <p:nvPr/>
        </p:nvSpPr>
        <p:spPr>
          <a:xfrm>
            <a:off x="10793709" y="3273992"/>
            <a:ext cx="7156130" cy="7013008"/>
          </a:xfrm>
          <a:custGeom>
            <a:rect b="b" l="l" r="r" t="t"/>
            <a:pathLst>
              <a:path extrusionOk="0" h="7013008" w="7156130">
                <a:moveTo>
                  <a:pt x="0" y="0"/>
                </a:moveTo>
                <a:lnTo>
                  <a:pt x="7156130" y="0"/>
                </a:lnTo>
                <a:lnTo>
                  <a:pt x="7156130" y="7013008"/>
                </a:lnTo>
                <a:lnTo>
                  <a:pt x="0" y="7013008"/>
                </a:lnTo>
                <a:lnTo>
                  <a:pt x="0" y="0"/>
                </a:lnTo>
                <a:close/>
              </a:path>
            </a:pathLst>
          </a:custGeom>
          <a:blipFill rotWithShape="1">
            <a:blip r:embed="rId4">
              <a:alphaModFix/>
            </a:blip>
            <a:stretch>
              <a:fillRect b="0" l="0" r="0" t="0"/>
            </a:stretch>
          </a:blipFill>
          <a:ln>
            <a:noFill/>
          </a:ln>
        </p:spPr>
      </p:sp>
      <p:sp>
        <p:nvSpPr>
          <p:cNvPr id="199" name="Google Shape;199;p14"/>
          <p:cNvSpPr txBox="1"/>
          <p:nvPr/>
        </p:nvSpPr>
        <p:spPr>
          <a:xfrm>
            <a:off x="11212906" y="3646886"/>
            <a:ext cx="5892600" cy="62685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0" i="0" lang="en-US" sz="2288" u="none" cap="none" strike="noStrike">
                <a:solidFill>
                  <a:srgbClr val="000000"/>
                </a:solidFill>
                <a:latin typeface="Open Sans"/>
                <a:ea typeface="Open Sans"/>
                <a:cs typeface="Open Sans"/>
                <a:sym typeface="Open Sans"/>
              </a:rPr>
              <a:t>The leaderboard is a good idea for keeping users competitive, but </a:t>
            </a:r>
            <a:r>
              <a:rPr b="1" i="0" lang="en-US" sz="2288" u="none" cap="none" strike="noStrike">
                <a:solidFill>
                  <a:srgbClr val="000000"/>
                </a:solidFill>
                <a:latin typeface="Open Sans"/>
                <a:ea typeface="Open Sans"/>
                <a:cs typeface="Open Sans"/>
                <a:sym typeface="Open Sans"/>
              </a:rPr>
              <a:t>it can cause stress for some</a:t>
            </a:r>
            <a:r>
              <a:rPr b="0" i="0" lang="en-US" sz="2288" u="none" cap="none" strike="noStrike">
                <a:solidFill>
                  <a:srgbClr val="000000"/>
                </a:solidFill>
                <a:latin typeface="Open Sans"/>
                <a:ea typeface="Open Sans"/>
                <a:cs typeface="Open Sans"/>
                <a:sym typeface="Open Sans"/>
              </a:rPr>
              <a:t>, </a:t>
            </a:r>
            <a:r>
              <a:rPr b="1" i="0" lang="en-US" sz="2288" u="none" cap="none" strike="noStrike">
                <a:solidFill>
                  <a:srgbClr val="000000"/>
                </a:solidFill>
                <a:latin typeface="Open Sans"/>
                <a:ea typeface="Open Sans"/>
                <a:cs typeface="Open Sans"/>
                <a:sym typeface="Open Sans"/>
              </a:rPr>
              <a:t>as many neurodivergent people become demotivated when they are not in the position they want to be in</a:t>
            </a:r>
            <a:r>
              <a:rPr b="0" i="0" lang="en-US" sz="2288" u="none" cap="none" strike="noStrike">
                <a:solidFill>
                  <a:srgbClr val="000000"/>
                </a:solidFill>
                <a:latin typeface="Open Sans"/>
                <a:ea typeface="Open Sans"/>
                <a:cs typeface="Open Sans"/>
                <a:sym typeface="Open Sans"/>
              </a:rPr>
              <a:t>. Therefore, it should </a:t>
            </a:r>
            <a:r>
              <a:rPr b="1" i="0" lang="en-US" sz="2288" u="none" cap="none" strike="noStrike">
                <a:solidFill>
                  <a:srgbClr val="000000"/>
                </a:solidFill>
                <a:latin typeface="Open Sans"/>
                <a:ea typeface="Open Sans"/>
                <a:cs typeface="Open Sans"/>
                <a:sym typeface="Open Sans"/>
              </a:rPr>
              <a:t>be optional </a:t>
            </a:r>
            <a:r>
              <a:rPr b="0" i="0" lang="en-US" sz="2288" u="none" cap="none" strike="noStrike">
                <a:solidFill>
                  <a:srgbClr val="000000"/>
                </a:solidFill>
                <a:latin typeface="Open Sans"/>
                <a:ea typeface="Open Sans"/>
                <a:cs typeface="Open Sans"/>
                <a:sym typeface="Open Sans"/>
              </a:rPr>
              <a:t>to be part of this section or not.</a:t>
            </a:r>
            <a:endParaRPr sz="1200"/>
          </a:p>
          <a:p>
            <a:pPr indent="0" lvl="0" marL="0" marR="0" rtl="0" algn="ctr">
              <a:lnSpc>
                <a:spcPct val="139991"/>
              </a:lnSpc>
              <a:spcBef>
                <a:spcPts val="0"/>
              </a:spcBef>
              <a:spcAft>
                <a:spcPts val="0"/>
              </a:spcAft>
              <a:buNone/>
            </a:pPr>
            <a:r>
              <a:t/>
            </a:r>
            <a:endParaRPr b="0" i="0" sz="2288" u="none" cap="none" strike="noStrike">
              <a:solidFill>
                <a:srgbClr val="000000"/>
              </a:solidFill>
              <a:latin typeface="Open Sans"/>
              <a:ea typeface="Open Sans"/>
              <a:cs typeface="Open Sans"/>
              <a:sym typeface="Open Sans"/>
            </a:endParaRPr>
          </a:p>
          <a:p>
            <a:pPr indent="0" lvl="0" marL="0" marR="0" rtl="0" algn="ctr">
              <a:lnSpc>
                <a:spcPct val="139991"/>
              </a:lnSpc>
              <a:spcBef>
                <a:spcPts val="0"/>
              </a:spcBef>
              <a:spcAft>
                <a:spcPts val="0"/>
              </a:spcAft>
              <a:buNone/>
            </a:pPr>
            <a:r>
              <a:rPr b="0" i="0" lang="en-US" sz="2288" u="none" cap="none" strike="noStrike">
                <a:solidFill>
                  <a:srgbClr val="000000"/>
                </a:solidFill>
                <a:latin typeface="Open Sans"/>
                <a:ea typeface="Open Sans"/>
                <a:cs typeface="Open Sans"/>
                <a:sym typeface="Open Sans"/>
              </a:rPr>
              <a:t>Similarly, it should be made more attractive with </a:t>
            </a:r>
            <a:r>
              <a:rPr b="1" i="0" lang="en-US" sz="2288" u="none" cap="none" strike="noStrike">
                <a:solidFill>
                  <a:srgbClr val="000000"/>
                </a:solidFill>
                <a:latin typeface="Open Sans"/>
                <a:ea typeface="Open Sans"/>
                <a:cs typeface="Open Sans"/>
                <a:sym typeface="Open Sans"/>
              </a:rPr>
              <a:t>real-time updates of the tasks completed</a:t>
            </a:r>
            <a:r>
              <a:rPr b="0" i="0" lang="en-US" sz="2288" u="none" cap="none" strike="noStrike">
                <a:solidFill>
                  <a:srgbClr val="000000"/>
                </a:solidFill>
                <a:latin typeface="Open Sans"/>
                <a:ea typeface="Open Sans"/>
                <a:cs typeface="Open Sans"/>
                <a:sym typeface="Open Sans"/>
              </a:rPr>
              <a:t> by each user and some kind of </a:t>
            </a:r>
            <a:r>
              <a:rPr b="1" i="0" lang="en-US" sz="2288" u="none" cap="none" strike="noStrike">
                <a:solidFill>
                  <a:srgbClr val="000000"/>
                </a:solidFill>
                <a:latin typeface="Open Sans"/>
                <a:ea typeface="Open Sans"/>
                <a:cs typeface="Open Sans"/>
                <a:sym typeface="Open Sans"/>
              </a:rPr>
              <a:t>badge</a:t>
            </a:r>
            <a:r>
              <a:rPr b="0" i="0" lang="en-US" sz="2288" u="none" cap="none" strike="noStrike">
                <a:solidFill>
                  <a:srgbClr val="000000"/>
                </a:solidFill>
                <a:latin typeface="Open Sans"/>
                <a:ea typeface="Open Sans"/>
                <a:cs typeface="Open Sans"/>
                <a:sym typeface="Open Sans"/>
              </a:rPr>
              <a:t> or </a:t>
            </a:r>
            <a:r>
              <a:rPr b="1" i="0" lang="en-US" sz="2288" u="none" cap="none" strike="noStrike">
                <a:solidFill>
                  <a:srgbClr val="000000"/>
                </a:solidFill>
                <a:latin typeface="Open Sans"/>
                <a:ea typeface="Open Sans"/>
                <a:cs typeface="Open Sans"/>
                <a:sym typeface="Open Sans"/>
              </a:rPr>
              <a:t>recognition</a:t>
            </a:r>
            <a:r>
              <a:rPr b="0" i="0" lang="en-US" sz="2288" u="none" cap="none" strike="noStrike">
                <a:solidFill>
                  <a:srgbClr val="000000"/>
                </a:solidFill>
                <a:latin typeface="Open Sans"/>
                <a:ea typeface="Open Sans"/>
                <a:cs typeface="Open Sans"/>
                <a:sym typeface="Open Sans"/>
              </a:rPr>
              <a:t> for the level each person reaches.</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p:nvPr/>
        </p:nvSpPr>
        <p:spPr>
          <a:xfrm>
            <a:off x="669578" y="228218"/>
            <a:ext cx="11958362" cy="7390549"/>
          </a:xfrm>
          <a:custGeom>
            <a:rect b="b" l="l" r="r" t="t"/>
            <a:pathLst>
              <a:path extrusionOk="0" h="7390549" w="11958362">
                <a:moveTo>
                  <a:pt x="0" y="0"/>
                </a:moveTo>
                <a:lnTo>
                  <a:pt x="11958362" y="0"/>
                </a:lnTo>
                <a:lnTo>
                  <a:pt x="11958362" y="7390548"/>
                </a:lnTo>
                <a:lnTo>
                  <a:pt x="0" y="7390548"/>
                </a:lnTo>
                <a:lnTo>
                  <a:pt x="0" y="0"/>
                </a:lnTo>
                <a:close/>
              </a:path>
            </a:pathLst>
          </a:custGeom>
          <a:blipFill rotWithShape="1">
            <a:blip r:embed="rId4">
              <a:alphaModFix/>
            </a:blip>
            <a:stretch>
              <a:fillRect b="-6087" l="0" r="0" t="0"/>
            </a:stretch>
          </a:blipFill>
          <a:ln>
            <a:noFill/>
          </a:ln>
        </p:spPr>
      </p:sp>
      <p:sp>
        <p:nvSpPr>
          <p:cNvPr id="205" name="Google Shape;205;p15"/>
          <p:cNvSpPr/>
          <p:nvPr/>
        </p:nvSpPr>
        <p:spPr>
          <a:xfrm>
            <a:off x="11799155" y="2546017"/>
            <a:ext cx="6354201" cy="6227117"/>
          </a:xfrm>
          <a:custGeom>
            <a:rect b="b" l="l" r="r" t="t"/>
            <a:pathLst>
              <a:path extrusionOk="0" h="6227117" w="6354201">
                <a:moveTo>
                  <a:pt x="0" y="0"/>
                </a:moveTo>
                <a:lnTo>
                  <a:pt x="6354201" y="0"/>
                </a:lnTo>
                <a:lnTo>
                  <a:pt x="6354201" y="6227117"/>
                </a:lnTo>
                <a:lnTo>
                  <a:pt x="0" y="6227117"/>
                </a:lnTo>
                <a:lnTo>
                  <a:pt x="0" y="0"/>
                </a:lnTo>
                <a:close/>
              </a:path>
            </a:pathLst>
          </a:custGeom>
          <a:blipFill rotWithShape="1">
            <a:blip r:embed="rId5">
              <a:alphaModFix/>
            </a:blip>
            <a:stretch>
              <a:fillRect b="0" l="0" r="0" t="0"/>
            </a:stretch>
          </a:blipFill>
          <a:ln>
            <a:noFill/>
          </a:ln>
        </p:spPr>
      </p:sp>
      <p:grpSp>
        <p:nvGrpSpPr>
          <p:cNvPr id="206" name="Google Shape;206;p15"/>
          <p:cNvGrpSpPr/>
          <p:nvPr/>
        </p:nvGrpSpPr>
        <p:grpSpPr>
          <a:xfrm>
            <a:off x="5356428" y="2382975"/>
            <a:ext cx="5568024" cy="2158076"/>
            <a:chOff x="0" y="0"/>
            <a:chExt cx="1466475" cy="568382"/>
          </a:xfrm>
        </p:grpSpPr>
        <p:sp>
          <p:nvSpPr>
            <p:cNvPr id="207" name="Google Shape;207;p15"/>
            <p:cNvSpPr/>
            <p:nvPr/>
          </p:nvSpPr>
          <p:spPr>
            <a:xfrm>
              <a:off x="0" y="0"/>
              <a:ext cx="1466475" cy="568382"/>
            </a:xfrm>
            <a:custGeom>
              <a:rect b="b" l="l" r="r" t="t"/>
              <a:pathLst>
                <a:path extrusionOk="0" h="568382" w="1466475">
                  <a:moveTo>
                    <a:pt x="733238" y="0"/>
                  </a:moveTo>
                  <a:cubicBezTo>
                    <a:pt x="328282" y="0"/>
                    <a:pt x="0" y="127237"/>
                    <a:pt x="0" y="284191"/>
                  </a:cubicBezTo>
                  <a:cubicBezTo>
                    <a:pt x="0" y="441146"/>
                    <a:pt x="328282" y="568382"/>
                    <a:pt x="733238" y="568382"/>
                  </a:cubicBezTo>
                  <a:cubicBezTo>
                    <a:pt x="1138194" y="568382"/>
                    <a:pt x="1466475" y="441146"/>
                    <a:pt x="1466475" y="284191"/>
                  </a:cubicBezTo>
                  <a:cubicBezTo>
                    <a:pt x="1466475" y="127237"/>
                    <a:pt x="1138194" y="0"/>
                    <a:pt x="733238" y="0"/>
                  </a:cubicBezTo>
                  <a:close/>
                </a:path>
              </a:pathLst>
            </a:custGeom>
            <a:noFill/>
            <a:ln cap="sq" cmpd="sng" w="381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txBox="1"/>
            <p:nvPr/>
          </p:nvSpPr>
          <p:spPr>
            <a:xfrm>
              <a:off x="137482" y="15186"/>
              <a:ext cx="1191511" cy="49991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9" name="Google Shape;209;p15"/>
          <p:cNvGrpSpPr/>
          <p:nvPr/>
        </p:nvGrpSpPr>
        <p:grpSpPr>
          <a:xfrm>
            <a:off x="9358849" y="1435046"/>
            <a:ext cx="1565603" cy="606802"/>
            <a:chOff x="0" y="0"/>
            <a:chExt cx="1466475" cy="568382"/>
          </a:xfrm>
        </p:grpSpPr>
        <p:sp>
          <p:nvSpPr>
            <p:cNvPr id="210" name="Google Shape;210;p15"/>
            <p:cNvSpPr/>
            <p:nvPr/>
          </p:nvSpPr>
          <p:spPr>
            <a:xfrm>
              <a:off x="0" y="0"/>
              <a:ext cx="1466475" cy="568382"/>
            </a:xfrm>
            <a:custGeom>
              <a:rect b="b" l="l" r="r" t="t"/>
              <a:pathLst>
                <a:path extrusionOk="0" h="568382" w="1466475">
                  <a:moveTo>
                    <a:pt x="733238" y="0"/>
                  </a:moveTo>
                  <a:cubicBezTo>
                    <a:pt x="328282" y="0"/>
                    <a:pt x="0" y="127237"/>
                    <a:pt x="0" y="284191"/>
                  </a:cubicBezTo>
                  <a:cubicBezTo>
                    <a:pt x="0" y="441146"/>
                    <a:pt x="328282" y="568382"/>
                    <a:pt x="733238" y="568382"/>
                  </a:cubicBezTo>
                  <a:cubicBezTo>
                    <a:pt x="1138194" y="568382"/>
                    <a:pt x="1466475" y="441146"/>
                    <a:pt x="1466475" y="284191"/>
                  </a:cubicBezTo>
                  <a:cubicBezTo>
                    <a:pt x="1466475" y="127237"/>
                    <a:pt x="1138194" y="0"/>
                    <a:pt x="733238" y="0"/>
                  </a:cubicBezTo>
                  <a:close/>
                </a:path>
              </a:pathLst>
            </a:custGeom>
            <a:noFill/>
            <a:ln cap="sq" cmpd="sng" w="381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
            <p:cNvSpPr txBox="1"/>
            <p:nvPr/>
          </p:nvSpPr>
          <p:spPr>
            <a:xfrm>
              <a:off x="137482" y="15186"/>
              <a:ext cx="1191511" cy="49991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2" name="Google Shape;212;p15"/>
          <p:cNvSpPr/>
          <p:nvPr/>
        </p:nvSpPr>
        <p:spPr>
          <a:xfrm>
            <a:off x="11362600" y="789898"/>
            <a:ext cx="3086230" cy="1045856"/>
          </a:xfrm>
          <a:custGeom>
            <a:rect b="b" l="l" r="r" t="t"/>
            <a:pathLst>
              <a:path extrusionOk="0" h="125065" w="481659">
                <a:moveTo>
                  <a:pt x="62532" y="0"/>
                </a:moveTo>
                <a:lnTo>
                  <a:pt x="419127" y="0"/>
                </a:lnTo>
                <a:cubicBezTo>
                  <a:pt x="453663" y="0"/>
                  <a:pt x="481659" y="27997"/>
                  <a:pt x="481659" y="62532"/>
                </a:cubicBezTo>
                <a:lnTo>
                  <a:pt x="481659" y="62532"/>
                </a:lnTo>
                <a:cubicBezTo>
                  <a:pt x="481659" y="97068"/>
                  <a:pt x="453663" y="125065"/>
                  <a:pt x="419127" y="125065"/>
                </a:cubicBezTo>
                <a:lnTo>
                  <a:pt x="62532" y="125065"/>
                </a:lnTo>
                <a:cubicBezTo>
                  <a:pt x="27997" y="125065"/>
                  <a:pt x="0" y="97068"/>
                  <a:pt x="0" y="62532"/>
                </a:cubicBezTo>
                <a:lnTo>
                  <a:pt x="0" y="62532"/>
                </a:lnTo>
                <a:cubicBezTo>
                  <a:pt x="0" y="27997"/>
                  <a:pt x="27997" y="0"/>
                  <a:pt x="62532" y="0"/>
                </a:cubicBezTo>
                <a:close/>
              </a:path>
            </a:pathLst>
          </a:custGeom>
          <a:solidFill>
            <a:srgbClr val="EBB6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txBox="1"/>
          <p:nvPr/>
        </p:nvSpPr>
        <p:spPr>
          <a:xfrm>
            <a:off x="11362205" y="789922"/>
            <a:ext cx="3087000" cy="104580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rPr b="0" i="0" lang="en-US" sz="1899" u="none" cap="none" strike="noStrike">
                <a:solidFill>
                  <a:srgbClr val="000000"/>
                </a:solidFill>
                <a:latin typeface="Open Sans"/>
                <a:ea typeface="Open Sans"/>
                <a:cs typeface="Open Sans"/>
                <a:sym typeface="Open Sans"/>
              </a:rPr>
              <a:t>The help buttons are not responding.</a:t>
            </a:r>
            <a:endParaRPr/>
          </a:p>
        </p:txBody>
      </p:sp>
      <p:sp>
        <p:nvSpPr>
          <p:cNvPr id="214" name="Google Shape;214;p15"/>
          <p:cNvSpPr txBox="1"/>
          <p:nvPr/>
        </p:nvSpPr>
        <p:spPr>
          <a:xfrm>
            <a:off x="12234332" y="2849795"/>
            <a:ext cx="5215934" cy="5581462"/>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257" u="none" cap="none" strike="noStrike">
                <a:solidFill>
                  <a:srgbClr val="000000"/>
                </a:solidFill>
                <a:latin typeface="Open Sans"/>
                <a:ea typeface="Open Sans"/>
                <a:cs typeface="Open Sans"/>
                <a:sym typeface="Open Sans"/>
              </a:rPr>
              <a:t>In the </a:t>
            </a:r>
            <a:r>
              <a:rPr b="0" i="0" lang="en-US" sz="2257" u="none" cap="none" strike="noStrike">
                <a:solidFill>
                  <a:srgbClr val="000000"/>
                </a:solidFill>
                <a:latin typeface="Open Sans"/>
                <a:ea typeface="Open Sans"/>
                <a:cs typeface="Open Sans"/>
                <a:sym typeface="Open Sans"/>
                <a:extLst>
                  <a:ext uri="http://customooxmlschemas.google.com/">
                    <go:slidesCustomData xmlns:go="http://customooxmlschemas.google.com/" textRoundtripDataId="1"/>
                  </a:ext>
                </a:extLst>
              </a:rPr>
              <a:t>concentration</a:t>
            </a:r>
            <a:r>
              <a:rPr b="0" i="0" lang="en-US" sz="2257" u="none" cap="none" strike="noStrike">
                <a:solidFill>
                  <a:srgbClr val="000000"/>
                </a:solidFill>
                <a:latin typeface="Open Sans"/>
                <a:ea typeface="Open Sans"/>
                <a:cs typeface="Open Sans"/>
                <a:sym typeface="Open Sans"/>
              </a:rPr>
              <a:t> section, the timer programmer is very complex because </a:t>
            </a:r>
            <a:r>
              <a:rPr b="1" i="0" lang="en-US" sz="2257" u="none" cap="none" strike="noStrike">
                <a:solidFill>
                  <a:srgbClr val="000000"/>
                </a:solidFill>
                <a:latin typeface="Open Sans"/>
                <a:ea typeface="Open Sans"/>
                <a:cs typeface="Open Sans"/>
                <a:sym typeface="Open Sans"/>
              </a:rPr>
              <a:t>it only allows you to set times in minutes</a:t>
            </a:r>
            <a:r>
              <a:rPr b="0" i="0" lang="en-US" sz="2257" u="none" cap="none" strike="noStrike">
                <a:solidFill>
                  <a:srgbClr val="000000"/>
                </a:solidFill>
                <a:latin typeface="Open Sans"/>
                <a:ea typeface="Open Sans"/>
                <a:cs typeface="Open Sans"/>
                <a:sym typeface="Open Sans"/>
              </a:rPr>
              <a:t>. An improvement could be to </a:t>
            </a:r>
            <a:r>
              <a:rPr b="1" i="0" lang="en-US" sz="2257" u="none" cap="none" strike="noStrike">
                <a:solidFill>
                  <a:srgbClr val="000000"/>
                </a:solidFill>
                <a:latin typeface="Open Sans"/>
                <a:ea typeface="Open Sans"/>
                <a:cs typeface="Open Sans"/>
                <a:sym typeface="Open Sans"/>
              </a:rPr>
              <a:t>set the hour and minutes</a:t>
            </a:r>
            <a:r>
              <a:rPr b="0" i="0" lang="en-US" sz="2257" u="none" cap="none" strike="noStrike">
                <a:solidFill>
                  <a:srgbClr val="000000"/>
                </a:solidFill>
                <a:latin typeface="Open Sans"/>
                <a:ea typeface="Open Sans"/>
                <a:cs typeface="Open Sans"/>
                <a:sym typeface="Open Sans"/>
              </a:rPr>
              <a:t> and then have a section to program breaks, so that you can </a:t>
            </a:r>
            <a:r>
              <a:rPr b="1" i="0" lang="en-US" sz="2257" u="none" cap="none" strike="noStrike">
                <a:solidFill>
                  <a:srgbClr val="000000"/>
                </a:solidFill>
                <a:latin typeface="Open Sans"/>
                <a:ea typeface="Open Sans"/>
                <a:cs typeface="Open Sans"/>
                <a:sym typeface="Open Sans"/>
              </a:rPr>
              <a:t>program the desired breaks</a:t>
            </a:r>
            <a:r>
              <a:rPr b="0" i="0" lang="en-US" sz="2257" u="none" cap="none" strike="noStrike">
                <a:solidFill>
                  <a:srgbClr val="000000"/>
                </a:solidFill>
                <a:latin typeface="Open Sans"/>
                <a:ea typeface="Open Sans"/>
                <a:cs typeface="Open Sans"/>
                <a:sym typeface="Open Sans"/>
              </a:rPr>
              <a:t>, from</a:t>
            </a:r>
            <a:r>
              <a:rPr b="1" i="0" lang="en-US" sz="2257" u="none" cap="none" strike="noStrike">
                <a:solidFill>
                  <a:srgbClr val="000000"/>
                </a:solidFill>
                <a:latin typeface="Open Sans"/>
                <a:ea typeface="Open Sans"/>
                <a:cs typeface="Open Sans"/>
                <a:sym typeface="Open Sans"/>
              </a:rPr>
              <a:t> 1 to 3</a:t>
            </a:r>
            <a:r>
              <a:rPr b="0" i="0" lang="en-US" sz="2257" u="none" cap="none" strike="noStrike">
                <a:solidFill>
                  <a:srgbClr val="000000"/>
                </a:solidFill>
                <a:latin typeface="Open Sans"/>
                <a:ea typeface="Open Sans"/>
                <a:cs typeface="Open Sans"/>
                <a:sym typeface="Open Sans"/>
              </a:rPr>
              <a:t>, depending on what is most convenient according to the time interval of the </a:t>
            </a:r>
            <a:r>
              <a:rPr b="0" i="0" lang="en-US" sz="2257" u="none" cap="none" strike="noStrike">
                <a:solidFill>
                  <a:srgbClr val="000000"/>
                </a:solidFill>
                <a:latin typeface="Open Sans"/>
                <a:ea typeface="Open Sans"/>
                <a:cs typeface="Open Sans"/>
                <a:sym typeface="Open Sans"/>
                <a:extLst>
                  <a:ext uri="http://customooxmlschemas.google.com/">
                    <go:slidesCustomData xmlns:go="http://customooxmlschemas.google.com/" textRoundtripDataId="2"/>
                  </a:ext>
                </a:extLst>
              </a:rPr>
              <a:t>concentration session</a:t>
            </a:r>
            <a:r>
              <a:rPr b="0" i="0" lang="en-US" sz="2257" u="none" cap="none" strike="noStrike">
                <a:solidFill>
                  <a:srgbClr val="000000"/>
                </a:solidFill>
                <a:latin typeface="Open Sans"/>
                <a:ea typeface="Open Sans"/>
                <a:cs typeface="Open Sans"/>
                <a:sym typeface="Open Sans"/>
              </a:rPr>
              <a:t>.</a:t>
            </a:r>
            <a:endParaRPr/>
          </a:p>
          <a:p>
            <a:pPr indent="0" lvl="0" marL="0" marR="0" rtl="0" algn="ctr">
              <a:lnSpc>
                <a:spcPct val="140008"/>
              </a:lnSpc>
              <a:spcBef>
                <a:spcPts val="0"/>
              </a:spcBef>
              <a:spcAft>
                <a:spcPts val="0"/>
              </a:spcAft>
              <a:buNone/>
            </a:pPr>
            <a:r>
              <a:t/>
            </a:r>
            <a:endParaRPr b="0" i="0" sz="2257" u="none" cap="none" strike="noStrike">
              <a:solidFill>
                <a:srgbClr val="000000"/>
              </a:solidFill>
              <a:latin typeface="Open Sans"/>
              <a:ea typeface="Open Sans"/>
              <a:cs typeface="Open Sans"/>
              <a:sym typeface="Open Sans"/>
            </a:endParaRPr>
          </a:p>
          <a:p>
            <a:pPr indent="0" lvl="0" marL="0" marR="0" rtl="0" algn="ctr">
              <a:lnSpc>
                <a:spcPct val="140008"/>
              </a:lnSpc>
              <a:spcBef>
                <a:spcPts val="0"/>
              </a:spcBef>
              <a:spcAft>
                <a:spcPts val="0"/>
              </a:spcAft>
              <a:buNone/>
            </a:pPr>
            <a:r>
              <a:rPr b="0" i="0" lang="en-US" sz="2257" u="none" cap="none" strike="noStrike">
                <a:solidFill>
                  <a:srgbClr val="000000"/>
                </a:solidFill>
                <a:latin typeface="Open Sans"/>
                <a:ea typeface="Open Sans"/>
                <a:cs typeface="Open Sans"/>
                <a:sym typeface="Open Sans"/>
              </a:rPr>
              <a:t>Similarly, the programmer could have a more attractive appearance.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6"/>
          <p:cNvSpPr/>
          <p:nvPr/>
        </p:nvSpPr>
        <p:spPr>
          <a:xfrm>
            <a:off x="5556375" y="748135"/>
            <a:ext cx="12441244" cy="6929682"/>
          </a:xfrm>
          <a:custGeom>
            <a:rect b="b" l="l" r="r" t="t"/>
            <a:pathLst>
              <a:path extrusionOk="0" h="6929682" w="12441244">
                <a:moveTo>
                  <a:pt x="0" y="0"/>
                </a:moveTo>
                <a:lnTo>
                  <a:pt x="12441244" y="0"/>
                </a:lnTo>
                <a:lnTo>
                  <a:pt x="12441244" y="6929682"/>
                </a:lnTo>
                <a:lnTo>
                  <a:pt x="0" y="6929682"/>
                </a:lnTo>
                <a:lnTo>
                  <a:pt x="0" y="0"/>
                </a:lnTo>
                <a:close/>
              </a:path>
            </a:pathLst>
          </a:custGeom>
          <a:blipFill rotWithShape="1">
            <a:blip r:embed="rId3">
              <a:alphaModFix/>
            </a:blip>
            <a:stretch>
              <a:fillRect b="0" l="0" r="0" t="0"/>
            </a:stretch>
          </a:blipFill>
          <a:ln>
            <a:noFill/>
          </a:ln>
        </p:spPr>
      </p:sp>
      <p:grpSp>
        <p:nvGrpSpPr>
          <p:cNvPr id="220" name="Google Shape;220;p16"/>
          <p:cNvGrpSpPr/>
          <p:nvPr/>
        </p:nvGrpSpPr>
        <p:grpSpPr>
          <a:xfrm>
            <a:off x="8971462" y="1690507"/>
            <a:ext cx="7683054" cy="3086100"/>
            <a:chOff x="0" y="0"/>
            <a:chExt cx="2023520" cy="812800"/>
          </a:xfrm>
        </p:grpSpPr>
        <p:sp>
          <p:nvSpPr>
            <p:cNvPr id="221" name="Google Shape;221;p16"/>
            <p:cNvSpPr/>
            <p:nvPr/>
          </p:nvSpPr>
          <p:spPr>
            <a:xfrm>
              <a:off x="0" y="0"/>
              <a:ext cx="2023520" cy="812800"/>
            </a:xfrm>
            <a:custGeom>
              <a:rect b="b" l="l" r="r" t="t"/>
              <a:pathLst>
                <a:path extrusionOk="0" h="812800" w="2023520">
                  <a:moveTo>
                    <a:pt x="1011760" y="0"/>
                  </a:moveTo>
                  <a:cubicBezTo>
                    <a:pt x="452980" y="0"/>
                    <a:pt x="0" y="181951"/>
                    <a:pt x="0" y="406400"/>
                  </a:cubicBezTo>
                  <a:cubicBezTo>
                    <a:pt x="0" y="630849"/>
                    <a:pt x="452980" y="812800"/>
                    <a:pt x="1011760" y="812800"/>
                  </a:cubicBezTo>
                  <a:cubicBezTo>
                    <a:pt x="1570540" y="812800"/>
                    <a:pt x="2023520" y="630849"/>
                    <a:pt x="2023520" y="406400"/>
                  </a:cubicBezTo>
                  <a:cubicBezTo>
                    <a:pt x="2023520" y="181951"/>
                    <a:pt x="1570540" y="0"/>
                    <a:pt x="1011760" y="0"/>
                  </a:cubicBezTo>
                  <a:close/>
                </a:path>
              </a:pathLst>
            </a:custGeom>
            <a:noFill/>
            <a:ln cap="sq" cmpd="sng" w="381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txBox="1"/>
            <p:nvPr/>
          </p:nvSpPr>
          <p:spPr>
            <a:xfrm>
              <a:off x="189705" y="38100"/>
              <a:ext cx="164411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3" name="Google Shape;223;p16"/>
          <p:cNvSpPr/>
          <p:nvPr/>
        </p:nvSpPr>
        <p:spPr>
          <a:xfrm>
            <a:off x="1265832" y="4212976"/>
            <a:ext cx="5785478" cy="5669769"/>
          </a:xfrm>
          <a:custGeom>
            <a:rect b="b" l="l" r="r" t="t"/>
            <a:pathLst>
              <a:path extrusionOk="0" h="5669769" w="5785478">
                <a:moveTo>
                  <a:pt x="0" y="0"/>
                </a:moveTo>
                <a:lnTo>
                  <a:pt x="5785478" y="0"/>
                </a:lnTo>
                <a:lnTo>
                  <a:pt x="5785478" y="5669769"/>
                </a:lnTo>
                <a:lnTo>
                  <a:pt x="0" y="5669769"/>
                </a:lnTo>
                <a:lnTo>
                  <a:pt x="0" y="0"/>
                </a:lnTo>
                <a:close/>
              </a:path>
            </a:pathLst>
          </a:custGeom>
          <a:blipFill rotWithShape="1">
            <a:blip r:embed="rId4">
              <a:alphaModFix/>
            </a:blip>
            <a:stretch>
              <a:fillRect b="0" l="0" r="0" t="0"/>
            </a:stretch>
          </a:blipFill>
          <a:ln>
            <a:noFill/>
          </a:ln>
        </p:spPr>
      </p:sp>
      <p:sp>
        <p:nvSpPr>
          <p:cNvPr id="224" name="Google Shape;224;p16"/>
          <p:cNvSpPr/>
          <p:nvPr/>
        </p:nvSpPr>
        <p:spPr>
          <a:xfrm rot="10361338">
            <a:off x="7493848" y="5703208"/>
            <a:ext cx="4959784" cy="3092668"/>
          </a:xfrm>
          <a:custGeom>
            <a:rect b="b" l="l" r="r" t="t"/>
            <a:pathLst>
              <a:path extrusionOk="0" h="3092668" w="4959784">
                <a:moveTo>
                  <a:pt x="0" y="0"/>
                </a:moveTo>
                <a:lnTo>
                  <a:pt x="4959784" y="0"/>
                </a:lnTo>
                <a:lnTo>
                  <a:pt x="4959784" y="3092668"/>
                </a:lnTo>
                <a:lnTo>
                  <a:pt x="0" y="3092668"/>
                </a:lnTo>
                <a:lnTo>
                  <a:pt x="0" y="0"/>
                </a:lnTo>
                <a:close/>
              </a:path>
            </a:pathLst>
          </a:custGeom>
          <a:blipFill rotWithShape="1">
            <a:blip r:embed="rId5">
              <a:alphaModFix/>
            </a:blip>
            <a:stretch>
              <a:fillRect b="0" l="0" r="0" t="0"/>
            </a:stretch>
          </a:blipFill>
          <a:ln>
            <a:noFill/>
          </a:ln>
        </p:spPr>
      </p:sp>
      <p:sp>
        <p:nvSpPr>
          <p:cNvPr id="225" name="Google Shape;225;p16"/>
          <p:cNvSpPr txBox="1"/>
          <p:nvPr/>
        </p:nvSpPr>
        <p:spPr>
          <a:xfrm>
            <a:off x="1975575" y="5239850"/>
            <a:ext cx="4365900" cy="3691500"/>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0" i="0" lang="en-US" sz="2997" u="none" cap="none" strike="noStrike">
                <a:solidFill>
                  <a:srgbClr val="000000"/>
                </a:solidFill>
                <a:latin typeface="Open Sans"/>
                <a:ea typeface="Open Sans"/>
                <a:cs typeface="Open Sans"/>
                <a:sym typeface="Open Sans"/>
              </a:rPr>
              <a:t>In the section on the purpose of the focus session, it </a:t>
            </a:r>
            <a:r>
              <a:rPr b="1" i="0" lang="en-US" sz="2997" u="none" cap="none" strike="noStrike">
                <a:solidFill>
                  <a:srgbClr val="000000"/>
                </a:solidFill>
                <a:latin typeface="Open Sans"/>
                <a:ea typeface="Open Sans"/>
                <a:cs typeface="Open Sans"/>
                <a:sym typeface="Open Sans"/>
              </a:rPr>
              <a:t>is not possible to make selections or write anything.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7"/>
          <p:cNvSpPr/>
          <p:nvPr/>
        </p:nvSpPr>
        <p:spPr>
          <a:xfrm>
            <a:off x="1527806" y="4350868"/>
            <a:ext cx="9325087" cy="1585265"/>
          </a:xfrm>
          <a:custGeom>
            <a:rect b="b" l="l" r="r" t="t"/>
            <a:pathLst>
              <a:path extrusionOk="0" h="1585265" w="9325087">
                <a:moveTo>
                  <a:pt x="0" y="0"/>
                </a:moveTo>
                <a:lnTo>
                  <a:pt x="9325087" y="0"/>
                </a:lnTo>
                <a:lnTo>
                  <a:pt x="9325087" y="1585264"/>
                </a:lnTo>
                <a:lnTo>
                  <a:pt x="0" y="1585264"/>
                </a:lnTo>
                <a:lnTo>
                  <a:pt x="0" y="0"/>
                </a:lnTo>
                <a:close/>
              </a:path>
            </a:pathLst>
          </a:custGeom>
          <a:blipFill rotWithShape="1">
            <a:blip r:embed="rId4">
              <a:alphaModFix/>
            </a:blip>
            <a:stretch>
              <a:fillRect b="0" l="0" r="0" t="0"/>
            </a:stretch>
          </a:blipFill>
          <a:ln>
            <a:noFill/>
          </a:ln>
        </p:spPr>
      </p:sp>
      <p:sp>
        <p:nvSpPr>
          <p:cNvPr id="231" name="Google Shape;231;p17"/>
          <p:cNvSpPr/>
          <p:nvPr/>
        </p:nvSpPr>
        <p:spPr>
          <a:xfrm>
            <a:off x="11131411" y="3101248"/>
            <a:ext cx="5785478" cy="5669769"/>
          </a:xfrm>
          <a:custGeom>
            <a:rect b="b" l="l" r="r" t="t"/>
            <a:pathLst>
              <a:path extrusionOk="0" h="5669769" w="5785478">
                <a:moveTo>
                  <a:pt x="0" y="0"/>
                </a:moveTo>
                <a:lnTo>
                  <a:pt x="5785479" y="0"/>
                </a:lnTo>
                <a:lnTo>
                  <a:pt x="5785479" y="5669769"/>
                </a:lnTo>
                <a:lnTo>
                  <a:pt x="0" y="5669769"/>
                </a:lnTo>
                <a:lnTo>
                  <a:pt x="0" y="0"/>
                </a:lnTo>
                <a:close/>
              </a:path>
            </a:pathLst>
          </a:custGeom>
          <a:blipFill rotWithShape="1">
            <a:blip r:embed="rId5">
              <a:alphaModFix/>
            </a:blip>
            <a:stretch>
              <a:fillRect b="0" l="0" r="0" t="0"/>
            </a:stretch>
          </a:blipFill>
          <a:ln>
            <a:noFill/>
          </a:ln>
        </p:spPr>
      </p:sp>
      <p:sp>
        <p:nvSpPr>
          <p:cNvPr id="232" name="Google Shape;232;p17"/>
          <p:cNvSpPr txBox="1"/>
          <p:nvPr/>
        </p:nvSpPr>
        <p:spPr>
          <a:xfrm>
            <a:off x="11672110" y="3596197"/>
            <a:ext cx="4704081" cy="418084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It has bugs, as there are times when a </a:t>
            </a:r>
            <a:r>
              <a:rPr b="1" i="0" lang="en-US" sz="3399" u="none" cap="none" strike="noStrike">
                <a:solidFill>
                  <a:srgbClr val="000000"/>
                </a:solidFill>
                <a:latin typeface="Open Sans"/>
                <a:ea typeface="Open Sans"/>
                <a:cs typeface="Open Sans"/>
                <a:sym typeface="Open Sans"/>
              </a:rPr>
              <a:t>block has not been set</a:t>
            </a:r>
            <a:r>
              <a:rPr b="0" i="0" lang="en-US" sz="3399" u="none" cap="none" strike="noStrike">
                <a:solidFill>
                  <a:srgbClr val="000000"/>
                </a:solidFill>
                <a:latin typeface="Open Sans"/>
                <a:ea typeface="Open Sans"/>
                <a:cs typeface="Open Sans"/>
                <a:sym typeface="Open Sans"/>
              </a:rPr>
              <a:t>, and the app gives you the </a:t>
            </a:r>
            <a:r>
              <a:rPr b="1" i="0" lang="en-US" sz="3399" u="none" cap="none" strike="noStrike">
                <a:solidFill>
                  <a:srgbClr val="000000"/>
                </a:solidFill>
                <a:latin typeface="Open Sans"/>
                <a:ea typeface="Open Sans"/>
                <a:cs typeface="Open Sans"/>
                <a:sym typeface="Open Sans"/>
              </a:rPr>
              <a:t>option to stop it even if you haven't programmed it.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8"/>
          <p:cNvSpPr/>
          <p:nvPr/>
        </p:nvSpPr>
        <p:spPr>
          <a:xfrm>
            <a:off x="636535" y="427585"/>
            <a:ext cx="9412255" cy="5399872"/>
          </a:xfrm>
          <a:custGeom>
            <a:rect b="b" l="l" r="r" t="t"/>
            <a:pathLst>
              <a:path extrusionOk="0" h="5399872" w="9412255">
                <a:moveTo>
                  <a:pt x="0" y="0"/>
                </a:moveTo>
                <a:lnTo>
                  <a:pt x="9412255" y="0"/>
                </a:lnTo>
                <a:lnTo>
                  <a:pt x="9412255" y="5399872"/>
                </a:lnTo>
                <a:lnTo>
                  <a:pt x="0" y="5399872"/>
                </a:lnTo>
                <a:lnTo>
                  <a:pt x="0" y="0"/>
                </a:lnTo>
                <a:close/>
              </a:path>
            </a:pathLst>
          </a:custGeom>
          <a:blipFill rotWithShape="1">
            <a:blip r:embed="rId4">
              <a:alphaModFix/>
            </a:blip>
            <a:stretch>
              <a:fillRect b="-5067" l="0" r="-3260" t="0"/>
            </a:stretch>
          </a:blipFill>
          <a:ln>
            <a:noFill/>
          </a:ln>
        </p:spPr>
      </p:sp>
      <p:sp>
        <p:nvSpPr>
          <p:cNvPr id="238" name="Google Shape;238;p18"/>
          <p:cNvSpPr/>
          <p:nvPr/>
        </p:nvSpPr>
        <p:spPr>
          <a:xfrm>
            <a:off x="10048790" y="1588639"/>
            <a:ext cx="4198776" cy="4114800"/>
          </a:xfrm>
          <a:custGeom>
            <a:rect b="b" l="l" r="r" t="t"/>
            <a:pathLst>
              <a:path extrusionOk="0" h="4114800" w="4198776">
                <a:moveTo>
                  <a:pt x="0" y="0"/>
                </a:moveTo>
                <a:lnTo>
                  <a:pt x="4198776" y="0"/>
                </a:lnTo>
                <a:lnTo>
                  <a:pt x="4198776" y="4114800"/>
                </a:lnTo>
                <a:lnTo>
                  <a:pt x="0" y="4114800"/>
                </a:lnTo>
                <a:lnTo>
                  <a:pt x="0" y="0"/>
                </a:lnTo>
                <a:close/>
              </a:path>
            </a:pathLst>
          </a:custGeom>
          <a:blipFill rotWithShape="1">
            <a:blip r:embed="rId5">
              <a:alphaModFix/>
            </a:blip>
            <a:stretch>
              <a:fillRect b="0" l="0" r="0" t="0"/>
            </a:stretch>
          </a:blipFill>
          <a:ln>
            <a:noFill/>
          </a:ln>
        </p:spPr>
      </p:sp>
      <p:sp>
        <p:nvSpPr>
          <p:cNvPr id="239" name="Google Shape;239;p18"/>
          <p:cNvSpPr txBox="1"/>
          <p:nvPr/>
        </p:nvSpPr>
        <p:spPr>
          <a:xfrm>
            <a:off x="10323325" y="2138549"/>
            <a:ext cx="3649707" cy="2957831"/>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000000"/>
                </a:solidFill>
                <a:latin typeface="Open Sans"/>
                <a:ea typeface="Open Sans"/>
                <a:cs typeface="Open Sans"/>
                <a:sym typeface="Open Sans"/>
              </a:rPr>
              <a:t>The reading time is too short; the user will probably not take the time to think about it but will act to close it.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9"/>
          <p:cNvSpPr/>
          <p:nvPr/>
        </p:nvSpPr>
        <p:spPr>
          <a:xfrm>
            <a:off x="677956" y="875250"/>
            <a:ext cx="12358037" cy="7888092"/>
          </a:xfrm>
          <a:custGeom>
            <a:rect b="b" l="l" r="r" t="t"/>
            <a:pathLst>
              <a:path extrusionOk="0" h="7888092" w="12358037">
                <a:moveTo>
                  <a:pt x="0" y="0"/>
                </a:moveTo>
                <a:lnTo>
                  <a:pt x="12358037" y="0"/>
                </a:lnTo>
                <a:lnTo>
                  <a:pt x="12358037" y="7888092"/>
                </a:lnTo>
                <a:lnTo>
                  <a:pt x="0" y="7888092"/>
                </a:lnTo>
                <a:lnTo>
                  <a:pt x="0" y="0"/>
                </a:lnTo>
                <a:close/>
              </a:path>
            </a:pathLst>
          </a:custGeom>
          <a:blipFill rotWithShape="1">
            <a:blip r:embed="rId4">
              <a:alphaModFix/>
            </a:blip>
            <a:stretch>
              <a:fillRect b="-5357" l="0" r="0" t="0"/>
            </a:stretch>
          </a:blipFill>
          <a:ln>
            <a:noFill/>
          </a:ln>
        </p:spPr>
      </p:sp>
      <p:sp>
        <p:nvSpPr>
          <p:cNvPr id="245" name="Google Shape;245;p19"/>
          <p:cNvSpPr/>
          <p:nvPr/>
        </p:nvSpPr>
        <p:spPr>
          <a:xfrm>
            <a:off x="11227438" y="3939275"/>
            <a:ext cx="5785478" cy="5669769"/>
          </a:xfrm>
          <a:custGeom>
            <a:rect b="b" l="l" r="r" t="t"/>
            <a:pathLst>
              <a:path extrusionOk="0" h="5669769" w="5785478">
                <a:moveTo>
                  <a:pt x="0" y="0"/>
                </a:moveTo>
                <a:lnTo>
                  <a:pt x="5785479" y="0"/>
                </a:lnTo>
                <a:lnTo>
                  <a:pt x="5785479" y="5669769"/>
                </a:lnTo>
                <a:lnTo>
                  <a:pt x="0" y="5669769"/>
                </a:lnTo>
                <a:lnTo>
                  <a:pt x="0" y="0"/>
                </a:lnTo>
                <a:close/>
              </a:path>
            </a:pathLst>
          </a:custGeom>
          <a:blipFill rotWithShape="1">
            <a:blip r:embed="rId5">
              <a:alphaModFix/>
            </a:blip>
            <a:stretch>
              <a:fillRect b="0" l="0" r="0" t="0"/>
            </a:stretch>
          </a:blipFill>
          <a:ln>
            <a:noFill/>
          </a:ln>
        </p:spPr>
      </p:sp>
      <p:grpSp>
        <p:nvGrpSpPr>
          <p:cNvPr id="246" name="Google Shape;246;p19"/>
          <p:cNvGrpSpPr/>
          <p:nvPr/>
        </p:nvGrpSpPr>
        <p:grpSpPr>
          <a:xfrm>
            <a:off x="7675875" y="1778248"/>
            <a:ext cx="3551563" cy="1670858"/>
            <a:chOff x="0" y="0"/>
            <a:chExt cx="935391" cy="440061"/>
          </a:xfrm>
        </p:grpSpPr>
        <p:sp>
          <p:nvSpPr>
            <p:cNvPr id="247" name="Google Shape;247;p19"/>
            <p:cNvSpPr/>
            <p:nvPr/>
          </p:nvSpPr>
          <p:spPr>
            <a:xfrm>
              <a:off x="0" y="0"/>
              <a:ext cx="935391" cy="440061"/>
            </a:xfrm>
            <a:custGeom>
              <a:rect b="b" l="l" r="r" t="t"/>
              <a:pathLst>
                <a:path extrusionOk="0" h="440061" w="935391">
                  <a:moveTo>
                    <a:pt x="467696" y="0"/>
                  </a:moveTo>
                  <a:cubicBezTo>
                    <a:pt x="209394" y="0"/>
                    <a:pt x="0" y="98511"/>
                    <a:pt x="0" y="220031"/>
                  </a:cubicBezTo>
                  <a:cubicBezTo>
                    <a:pt x="0" y="341550"/>
                    <a:pt x="209394" y="440061"/>
                    <a:pt x="467696" y="440061"/>
                  </a:cubicBezTo>
                  <a:cubicBezTo>
                    <a:pt x="725997" y="440061"/>
                    <a:pt x="935391" y="341550"/>
                    <a:pt x="935391" y="220031"/>
                  </a:cubicBezTo>
                  <a:cubicBezTo>
                    <a:pt x="935391" y="98511"/>
                    <a:pt x="725997" y="0"/>
                    <a:pt x="467696" y="0"/>
                  </a:cubicBezTo>
                  <a:close/>
                </a:path>
              </a:pathLst>
            </a:custGeom>
            <a:noFill/>
            <a:ln cap="sq" cmpd="sng" w="381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txBox="1"/>
            <p:nvPr/>
          </p:nvSpPr>
          <p:spPr>
            <a:xfrm>
              <a:off x="87693" y="3156"/>
              <a:ext cx="760005" cy="3956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9" name="Google Shape;249;p19"/>
          <p:cNvSpPr/>
          <p:nvPr/>
        </p:nvSpPr>
        <p:spPr>
          <a:xfrm rot="2700000">
            <a:off x="11153442" y="1752464"/>
            <a:ext cx="2762295" cy="1722426"/>
          </a:xfrm>
          <a:custGeom>
            <a:rect b="b" l="l" r="r" t="t"/>
            <a:pathLst>
              <a:path extrusionOk="0" h="1722426" w="2762295">
                <a:moveTo>
                  <a:pt x="0" y="0"/>
                </a:moveTo>
                <a:lnTo>
                  <a:pt x="2762295" y="0"/>
                </a:lnTo>
                <a:lnTo>
                  <a:pt x="2762295" y="1722426"/>
                </a:lnTo>
                <a:lnTo>
                  <a:pt x="0" y="1722426"/>
                </a:lnTo>
                <a:lnTo>
                  <a:pt x="0" y="0"/>
                </a:lnTo>
                <a:close/>
              </a:path>
            </a:pathLst>
          </a:custGeom>
          <a:blipFill rotWithShape="1">
            <a:blip r:embed="rId6">
              <a:alphaModFix/>
            </a:blip>
            <a:stretch>
              <a:fillRect b="0" l="0" r="0" t="0"/>
            </a:stretch>
          </a:blipFill>
          <a:ln>
            <a:noFill/>
          </a:ln>
        </p:spPr>
      </p:sp>
      <p:sp>
        <p:nvSpPr>
          <p:cNvPr id="250" name="Google Shape;250;p19"/>
          <p:cNvSpPr txBox="1"/>
          <p:nvPr/>
        </p:nvSpPr>
        <p:spPr>
          <a:xfrm>
            <a:off x="11374630" y="5111411"/>
            <a:ext cx="5491095" cy="3258821"/>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699" u="none" cap="none" strike="noStrike">
                <a:solidFill>
                  <a:srgbClr val="000000"/>
                </a:solidFill>
                <a:latin typeface="Open Sans"/>
                <a:ea typeface="Open Sans"/>
                <a:cs typeface="Open Sans"/>
                <a:sym typeface="Open Sans"/>
              </a:rPr>
              <a:t>The app is very slow, the micro breaks section freezes time and does not change it as the seconds pass.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0"/>
          <p:cNvSpPr/>
          <p:nvPr/>
        </p:nvSpPr>
        <p:spPr>
          <a:xfrm>
            <a:off x="1028700" y="620498"/>
            <a:ext cx="7885177" cy="9471106"/>
          </a:xfrm>
          <a:custGeom>
            <a:rect b="b" l="l" r="r" t="t"/>
            <a:pathLst>
              <a:path extrusionOk="0" h="9471106" w="7885177">
                <a:moveTo>
                  <a:pt x="0" y="0"/>
                </a:moveTo>
                <a:lnTo>
                  <a:pt x="7885177" y="0"/>
                </a:lnTo>
                <a:lnTo>
                  <a:pt x="7885177" y="9471106"/>
                </a:lnTo>
                <a:lnTo>
                  <a:pt x="0" y="9471106"/>
                </a:lnTo>
                <a:lnTo>
                  <a:pt x="0" y="0"/>
                </a:lnTo>
                <a:close/>
              </a:path>
            </a:pathLst>
          </a:custGeom>
          <a:blipFill rotWithShape="1">
            <a:blip r:embed="rId3">
              <a:alphaModFix/>
            </a:blip>
            <a:stretch>
              <a:fillRect b="0" l="0" r="0" t="0"/>
            </a:stretch>
          </a:blipFill>
          <a:ln>
            <a:noFill/>
          </a:ln>
        </p:spPr>
      </p:sp>
      <p:sp>
        <p:nvSpPr>
          <p:cNvPr id="256" name="Google Shape;256;p20"/>
          <p:cNvSpPr/>
          <p:nvPr/>
        </p:nvSpPr>
        <p:spPr>
          <a:xfrm>
            <a:off x="10216383" y="2308616"/>
            <a:ext cx="5785478" cy="5669769"/>
          </a:xfrm>
          <a:custGeom>
            <a:rect b="b" l="l" r="r" t="t"/>
            <a:pathLst>
              <a:path extrusionOk="0" h="5669769" w="5785478">
                <a:moveTo>
                  <a:pt x="0" y="0"/>
                </a:moveTo>
                <a:lnTo>
                  <a:pt x="5785478" y="0"/>
                </a:lnTo>
                <a:lnTo>
                  <a:pt x="5785478" y="5669768"/>
                </a:lnTo>
                <a:lnTo>
                  <a:pt x="0" y="5669768"/>
                </a:lnTo>
                <a:lnTo>
                  <a:pt x="0" y="0"/>
                </a:lnTo>
                <a:close/>
              </a:path>
            </a:pathLst>
          </a:custGeom>
          <a:blipFill rotWithShape="1">
            <a:blip r:embed="rId4">
              <a:alphaModFix/>
            </a:blip>
            <a:stretch>
              <a:fillRect b="0" l="0" r="0" t="0"/>
            </a:stretch>
          </a:blipFill>
          <a:ln>
            <a:noFill/>
          </a:ln>
        </p:spPr>
      </p:sp>
      <p:sp>
        <p:nvSpPr>
          <p:cNvPr id="257" name="Google Shape;257;p20"/>
          <p:cNvSpPr txBox="1"/>
          <p:nvPr/>
        </p:nvSpPr>
        <p:spPr>
          <a:xfrm>
            <a:off x="10604577" y="3038935"/>
            <a:ext cx="5009091" cy="4548507"/>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4299" u="none" cap="none" strike="noStrike">
                <a:solidFill>
                  <a:srgbClr val="000000"/>
                </a:solidFill>
                <a:latin typeface="Open Sans"/>
                <a:ea typeface="Open Sans"/>
                <a:cs typeface="Open Sans"/>
                <a:sym typeface="Open Sans"/>
              </a:rPr>
              <a:t>The help buttons in the blocking schedule section are not responding.</a:t>
            </a:r>
            <a:endParaRPr/>
          </a:p>
          <a:p>
            <a:pPr indent="0" lvl="0" marL="0" marR="0" rtl="0" algn="ctr">
              <a:lnSpc>
                <a:spcPct val="140009"/>
              </a:lnSpc>
              <a:spcBef>
                <a:spcPts val="0"/>
              </a:spcBef>
              <a:spcAft>
                <a:spcPts val="0"/>
              </a:spcAft>
              <a:buNone/>
            </a:pPr>
            <a:r>
              <a:t/>
            </a:r>
            <a:endParaRPr b="0" i="0" sz="4299" u="none" cap="none" strike="noStrike">
              <a:solidFill>
                <a:srgbClr val="000000"/>
              </a:solidFill>
              <a:latin typeface="Open Sans"/>
              <a:ea typeface="Open Sans"/>
              <a:cs typeface="Open Sans"/>
              <a:sym typeface="Open Sans"/>
            </a:endParaRPr>
          </a:p>
        </p:txBody>
      </p:sp>
      <p:grpSp>
        <p:nvGrpSpPr>
          <p:cNvPr id="258" name="Google Shape;258;p20"/>
          <p:cNvGrpSpPr/>
          <p:nvPr/>
        </p:nvGrpSpPr>
        <p:grpSpPr>
          <a:xfrm>
            <a:off x="2708712" y="7587442"/>
            <a:ext cx="3551563" cy="1670858"/>
            <a:chOff x="0" y="0"/>
            <a:chExt cx="935391" cy="440061"/>
          </a:xfrm>
        </p:grpSpPr>
        <p:sp>
          <p:nvSpPr>
            <p:cNvPr id="259" name="Google Shape;259;p20"/>
            <p:cNvSpPr/>
            <p:nvPr/>
          </p:nvSpPr>
          <p:spPr>
            <a:xfrm>
              <a:off x="0" y="0"/>
              <a:ext cx="935391" cy="440061"/>
            </a:xfrm>
            <a:custGeom>
              <a:rect b="b" l="l" r="r" t="t"/>
              <a:pathLst>
                <a:path extrusionOk="0" h="440061" w="935391">
                  <a:moveTo>
                    <a:pt x="467696" y="0"/>
                  </a:moveTo>
                  <a:cubicBezTo>
                    <a:pt x="209394" y="0"/>
                    <a:pt x="0" y="98511"/>
                    <a:pt x="0" y="220031"/>
                  </a:cubicBezTo>
                  <a:cubicBezTo>
                    <a:pt x="0" y="341550"/>
                    <a:pt x="209394" y="440061"/>
                    <a:pt x="467696" y="440061"/>
                  </a:cubicBezTo>
                  <a:cubicBezTo>
                    <a:pt x="725997" y="440061"/>
                    <a:pt x="935391" y="341550"/>
                    <a:pt x="935391" y="220031"/>
                  </a:cubicBezTo>
                  <a:cubicBezTo>
                    <a:pt x="935391" y="98511"/>
                    <a:pt x="725997" y="0"/>
                    <a:pt x="467696" y="0"/>
                  </a:cubicBezTo>
                  <a:close/>
                </a:path>
              </a:pathLst>
            </a:custGeom>
            <a:noFill/>
            <a:ln cap="sq" cmpd="sng" w="381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
            <p:cNvSpPr txBox="1"/>
            <p:nvPr/>
          </p:nvSpPr>
          <p:spPr>
            <a:xfrm>
              <a:off x="87693" y="3156"/>
              <a:ext cx="760005" cy="3956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1"/>
          <p:cNvSpPr/>
          <p:nvPr/>
        </p:nvSpPr>
        <p:spPr>
          <a:xfrm>
            <a:off x="3810893" y="294542"/>
            <a:ext cx="9895832" cy="9697916"/>
          </a:xfrm>
          <a:custGeom>
            <a:rect b="b" l="l" r="r" t="t"/>
            <a:pathLst>
              <a:path extrusionOk="0" h="9697916" w="9895832">
                <a:moveTo>
                  <a:pt x="0" y="0"/>
                </a:moveTo>
                <a:lnTo>
                  <a:pt x="9895832" y="0"/>
                </a:lnTo>
                <a:lnTo>
                  <a:pt x="9895832" y="9697916"/>
                </a:lnTo>
                <a:lnTo>
                  <a:pt x="0" y="9697916"/>
                </a:lnTo>
                <a:lnTo>
                  <a:pt x="0" y="0"/>
                </a:lnTo>
                <a:close/>
              </a:path>
            </a:pathLst>
          </a:custGeom>
          <a:blipFill rotWithShape="1">
            <a:blip r:embed="rId3">
              <a:alphaModFix/>
            </a:blip>
            <a:stretch>
              <a:fillRect b="0" l="0" r="0" t="0"/>
            </a:stretch>
          </a:blipFill>
          <a:ln>
            <a:noFill/>
          </a:ln>
        </p:spPr>
      </p:sp>
      <p:sp>
        <p:nvSpPr>
          <p:cNvPr id="266" name="Google Shape;266;p21"/>
          <p:cNvSpPr txBox="1"/>
          <p:nvPr/>
        </p:nvSpPr>
        <p:spPr>
          <a:xfrm>
            <a:off x="4256284" y="952500"/>
            <a:ext cx="8358300" cy="79533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3799" u="none" cap="none" strike="noStrike">
                <a:solidFill>
                  <a:srgbClr val="000000"/>
                </a:solidFill>
                <a:latin typeface="Open Sans"/>
                <a:ea typeface="Open Sans"/>
                <a:cs typeface="Open Sans"/>
                <a:sym typeface="Open Sans"/>
              </a:rPr>
              <a:t>These were the observations for the desktop app. It contains several errors that can be corrected. One of the things that stands out most in my opinion is the presentation. As a suggestion, make it more attractive and perhaps dynamic. There are also problems with language selections, and it runs slowly. Otherwise, the other functions work well.</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2"/>
          <p:cNvSpPr/>
          <p:nvPr/>
        </p:nvSpPr>
        <p:spPr>
          <a:xfrm>
            <a:off x="4182827" y="281026"/>
            <a:ext cx="10470061" cy="10260660"/>
          </a:xfrm>
          <a:custGeom>
            <a:rect b="b" l="l" r="r" t="t"/>
            <a:pathLst>
              <a:path extrusionOk="0" h="10260660" w="10470061">
                <a:moveTo>
                  <a:pt x="0" y="0"/>
                </a:moveTo>
                <a:lnTo>
                  <a:pt x="10470061" y="0"/>
                </a:lnTo>
                <a:lnTo>
                  <a:pt x="10470061" y="10260660"/>
                </a:lnTo>
                <a:lnTo>
                  <a:pt x="0" y="10260660"/>
                </a:lnTo>
                <a:lnTo>
                  <a:pt x="0" y="0"/>
                </a:lnTo>
                <a:close/>
              </a:path>
            </a:pathLst>
          </a:custGeom>
          <a:blipFill rotWithShape="1">
            <a:blip r:embed="rId3">
              <a:alphaModFix/>
            </a:blip>
            <a:stretch>
              <a:fillRect b="0" l="0" r="0" t="0"/>
            </a:stretch>
          </a:blipFill>
          <a:ln>
            <a:noFill/>
          </a:ln>
        </p:spPr>
      </p:sp>
      <p:sp>
        <p:nvSpPr>
          <p:cNvPr id="272" name="Google Shape;272;p22"/>
          <p:cNvSpPr txBox="1"/>
          <p:nvPr/>
        </p:nvSpPr>
        <p:spPr>
          <a:xfrm>
            <a:off x="4663000" y="962025"/>
            <a:ext cx="9261000" cy="91041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599" u="none" cap="none" strike="noStrike">
                <a:solidFill>
                  <a:srgbClr val="000000"/>
                </a:solidFill>
                <a:latin typeface="Open Sans"/>
                <a:ea typeface="Open Sans"/>
                <a:cs typeface="Open Sans"/>
                <a:sym typeface="Open Sans"/>
              </a:rPr>
              <a:t>T</a:t>
            </a:r>
            <a:r>
              <a:rPr b="0" i="0" lang="en-US" sz="3299" u="none" cap="none" strike="noStrike">
                <a:solidFill>
                  <a:srgbClr val="000000"/>
                </a:solidFill>
                <a:latin typeface="Open Sans"/>
                <a:ea typeface="Open Sans"/>
                <a:cs typeface="Open Sans"/>
                <a:sym typeface="Open Sans"/>
              </a:rPr>
              <a:t>he mobile app test worked correctly, the servers are fast, although some AI generation features should include a help section, as the information needed to understand how to use them is not clearly indicated and some users find it confusing. On the other hand, I like the aesthetic presentation of the image, although they could make more attractive innovations in general. Otherwise, I don't see any other issues or recommendations at this time, although the leaderboard could be made optional for users if they wish.</a:t>
            </a:r>
            <a:endParaRPr sz="1100"/>
          </a:p>
          <a:p>
            <a:pPr indent="0" lvl="0" marL="0" marR="0" rtl="0" algn="ctr">
              <a:lnSpc>
                <a:spcPct val="108891"/>
              </a:lnSpc>
              <a:spcBef>
                <a:spcPts val="0"/>
              </a:spcBef>
              <a:spcAft>
                <a:spcPts val="0"/>
              </a:spcAft>
              <a:buNone/>
            </a:pPr>
            <a:r>
              <a:t/>
            </a:r>
            <a:endParaRPr b="0" i="0" sz="3299" u="none" cap="none" strike="noStrike">
              <a:solidFill>
                <a:srgbClr val="000000"/>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