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Open Sans Bold" charset="1" panose="020B0806030504020204"/>
      <p:regular r:id="rId28"/>
    </p:embeddedFont>
    <p:embeddedFont>
      <p:font typeface="Open Sans" charset="1" panose="020B06060305040202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7.pn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9902C"/>
        </a:solidFill>
      </p:bgPr>
    </p:bg>
    <p:spTree>
      <p:nvGrpSpPr>
        <p:cNvPr id="1" name=""/>
        <p:cNvGrpSpPr/>
        <p:nvPr/>
      </p:nvGrpSpPr>
      <p:grpSpPr>
        <a:xfrm>
          <a:off x="0" y="0"/>
          <a:ext cx="0" cy="0"/>
          <a:chOff x="0" y="0"/>
          <a:chExt cx="0" cy="0"/>
        </a:xfrm>
      </p:grpSpPr>
      <p:sp>
        <p:nvSpPr>
          <p:cNvPr name="Freeform 2" id="2"/>
          <p:cNvSpPr/>
          <p:nvPr/>
        </p:nvSpPr>
        <p:spPr>
          <a:xfrm flipH="false" flipV="false" rot="0">
            <a:off x="6866270" y="1028700"/>
            <a:ext cx="5215713" cy="4114800"/>
          </a:xfrm>
          <a:custGeom>
            <a:avLst/>
            <a:gdLst/>
            <a:ahLst/>
            <a:cxnLst/>
            <a:rect r="r" b="b" t="t" l="l"/>
            <a:pathLst>
              <a:path h="4114800" w="5215713">
                <a:moveTo>
                  <a:pt x="0" y="0"/>
                </a:moveTo>
                <a:lnTo>
                  <a:pt x="5215713" y="0"/>
                </a:lnTo>
                <a:lnTo>
                  <a:pt x="5215713" y="4114800"/>
                </a:lnTo>
                <a:lnTo>
                  <a:pt x="0" y="4114800"/>
                </a:lnTo>
                <a:lnTo>
                  <a:pt x="0" y="0"/>
                </a:lnTo>
                <a:close/>
              </a:path>
            </a:pathLst>
          </a:custGeom>
          <a:blipFill>
            <a:blip r:embed="rId2"/>
            <a:stretch>
              <a:fillRect l="-145362" t="-21112" r="-139305" b="-297475"/>
            </a:stretch>
          </a:blipFill>
        </p:spPr>
      </p:sp>
      <p:sp>
        <p:nvSpPr>
          <p:cNvPr name="TextBox 3" id="3"/>
          <p:cNvSpPr txBox="true"/>
          <p:nvPr/>
        </p:nvSpPr>
        <p:spPr>
          <a:xfrm rot="0">
            <a:off x="5372449" y="6297422"/>
            <a:ext cx="8203354" cy="1633381"/>
          </a:xfrm>
          <a:prstGeom prst="rect">
            <a:avLst/>
          </a:prstGeom>
        </p:spPr>
        <p:txBody>
          <a:bodyPr anchor="t" rtlCol="false" tIns="0" lIns="0" bIns="0" rIns="0">
            <a:spAutoFit/>
          </a:bodyPr>
          <a:lstStyle/>
          <a:p>
            <a:pPr algn="ctr">
              <a:lnSpc>
                <a:spcPts val="6587"/>
              </a:lnSpc>
            </a:pPr>
            <a:r>
              <a:rPr lang="en-US" sz="4705" b="true">
                <a:solidFill>
                  <a:srgbClr val="000000"/>
                </a:solidFill>
                <a:latin typeface="Open Sans Bold"/>
                <a:ea typeface="Open Sans Bold"/>
                <a:cs typeface="Open Sans Bold"/>
                <a:sym typeface="Open Sans Bold"/>
              </a:rPr>
              <a:t>Windows</a:t>
            </a:r>
            <a:r>
              <a:rPr lang="en-US" b="true" sz="4705">
                <a:solidFill>
                  <a:srgbClr val="000000"/>
                </a:solidFill>
                <a:latin typeface="Open Sans Bold"/>
                <a:ea typeface="Open Sans Bold"/>
                <a:cs typeface="Open Sans Bold"/>
                <a:sym typeface="Open Sans Bold"/>
              </a:rPr>
              <a:t> V. 200.0</a:t>
            </a:r>
          </a:p>
          <a:p>
            <a:pPr algn="ctr">
              <a:lnSpc>
                <a:spcPts val="6587"/>
              </a:lnSpc>
            </a:pPr>
            <a:r>
              <a:rPr lang="en-US" b="true" sz="4705">
                <a:solidFill>
                  <a:srgbClr val="000000"/>
                </a:solidFill>
                <a:latin typeface="Open Sans Bold"/>
                <a:ea typeface="Open Sans Bold"/>
                <a:cs typeface="Open Sans Bold"/>
                <a:sym typeface="Open Sans Bold"/>
              </a:rPr>
              <a:t>Recommendations.</a:t>
            </a:r>
          </a:p>
        </p:txBody>
      </p:sp>
      <p:sp>
        <p:nvSpPr>
          <p:cNvPr name="TextBox 4" id="4"/>
          <p:cNvSpPr txBox="true"/>
          <p:nvPr/>
        </p:nvSpPr>
        <p:spPr>
          <a:xfrm rot="0">
            <a:off x="8171639" y="8433086"/>
            <a:ext cx="2604974" cy="825214"/>
          </a:xfrm>
          <a:prstGeom prst="rect">
            <a:avLst/>
          </a:prstGeom>
        </p:spPr>
        <p:txBody>
          <a:bodyPr anchor="t" rtlCol="false" tIns="0" lIns="0" bIns="0" rIns="0">
            <a:spAutoFit/>
          </a:bodyPr>
          <a:lstStyle/>
          <a:p>
            <a:pPr algn="ctr">
              <a:lnSpc>
                <a:spcPts val="3323"/>
              </a:lnSpc>
            </a:pPr>
            <a:r>
              <a:rPr lang="en-US" sz="2373">
                <a:solidFill>
                  <a:srgbClr val="000000"/>
                </a:solidFill>
                <a:latin typeface="Open Sans"/>
                <a:ea typeface="Open Sans"/>
                <a:cs typeface="Open Sans"/>
                <a:sym typeface="Open Sans"/>
              </a:rPr>
              <a:t>N</a:t>
            </a:r>
            <a:r>
              <a:rPr lang="en-US" sz="2373">
                <a:solidFill>
                  <a:srgbClr val="000000"/>
                </a:solidFill>
                <a:latin typeface="Open Sans"/>
                <a:ea typeface="Open Sans"/>
                <a:cs typeface="Open Sans"/>
                <a:sym typeface="Open Sans"/>
              </a:rPr>
              <a:t>elly Molina</a:t>
            </a:r>
          </a:p>
          <a:p>
            <a:pPr algn="ctr">
              <a:lnSpc>
                <a:spcPts val="3323"/>
              </a:lnSpc>
            </a:pPr>
            <a:r>
              <a:rPr lang="en-US" sz="2373">
                <a:solidFill>
                  <a:srgbClr val="000000"/>
                </a:solidFill>
                <a:latin typeface="Open Sans"/>
                <a:ea typeface="Open Sans"/>
                <a:cs typeface="Open Sans"/>
                <a:sym typeface="Open Sans"/>
              </a:rPr>
              <a:t>February 27, 2026.</a:t>
            </a:r>
          </a:p>
        </p:txBody>
      </p:sp>
      <p:sp>
        <p:nvSpPr>
          <p:cNvPr name="TextBox 5" id="5"/>
          <p:cNvSpPr txBox="true"/>
          <p:nvPr/>
        </p:nvSpPr>
        <p:spPr>
          <a:xfrm rot="0">
            <a:off x="5743281" y="4602896"/>
            <a:ext cx="7461691"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Open Sans Bold"/>
                <a:ea typeface="Open Sans Bold"/>
                <a:cs typeface="Open Sans Bold"/>
                <a:sym typeface="Open Sans Bold"/>
              </a:rPr>
              <a:t>Focus Bear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9902C"/>
        </a:solidFill>
      </p:bgPr>
    </p:bg>
    <p:spTree>
      <p:nvGrpSpPr>
        <p:cNvPr id="1" name=""/>
        <p:cNvGrpSpPr/>
        <p:nvPr/>
      </p:nvGrpSpPr>
      <p:grpSpPr>
        <a:xfrm>
          <a:off x="0" y="0"/>
          <a:ext cx="0" cy="0"/>
          <a:chOff x="0" y="0"/>
          <a:chExt cx="0" cy="0"/>
        </a:xfrm>
      </p:grpSpPr>
      <p:sp>
        <p:nvSpPr>
          <p:cNvPr name="Freeform 2" id="2"/>
          <p:cNvSpPr/>
          <p:nvPr/>
        </p:nvSpPr>
        <p:spPr>
          <a:xfrm flipH="false" flipV="false" rot="0">
            <a:off x="1542470" y="2835001"/>
            <a:ext cx="5215713" cy="4114800"/>
          </a:xfrm>
          <a:custGeom>
            <a:avLst/>
            <a:gdLst/>
            <a:ahLst/>
            <a:cxnLst/>
            <a:rect r="r" b="b" t="t" l="l"/>
            <a:pathLst>
              <a:path h="4114800" w="5215713">
                <a:moveTo>
                  <a:pt x="0" y="0"/>
                </a:moveTo>
                <a:lnTo>
                  <a:pt x="5215712" y="0"/>
                </a:lnTo>
                <a:lnTo>
                  <a:pt x="5215712" y="4114800"/>
                </a:lnTo>
                <a:lnTo>
                  <a:pt x="0" y="4114800"/>
                </a:lnTo>
                <a:lnTo>
                  <a:pt x="0" y="0"/>
                </a:lnTo>
                <a:close/>
              </a:path>
            </a:pathLst>
          </a:custGeom>
          <a:blipFill>
            <a:blip r:embed="rId2"/>
            <a:stretch>
              <a:fillRect l="-145362" t="-21112" r="-139305" b="-297475"/>
            </a:stretch>
          </a:blipFill>
        </p:spPr>
      </p:sp>
      <p:sp>
        <p:nvSpPr>
          <p:cNvPr name="TextBox 3" id="3"/>
          <p:cNvSpPr txBox="true"/>
          <p:nvPr/>
        </p:nvSpPr>
        <p:spPr>
          <a:xfrm rot="0">
            <a:off x="5910606" y="3432720"/>
            <a:ext cx="10715291" cy="3768180"/>
          </a:xfrm>
          <a:prstGeom prst="rect">
            <a:avLst/>
          </a:prstGeom>
        </p:spPr>
        <p:txBody>
          <a:bodyPr anchor="t" rtlCol="false" tIns="0" lIns="0" bIns="0" rIns="0">
            <a:spAutoFit/>
          </a:bodyPr>
          <a:lstStyle/>
          <a:p>
            <a:pPr algn="ctr">
              <a:lnSpc>
                <a:spcPts val="11264"/>
              </a:lnSpc>
            </a:pPr>
            <a:r>
              <a:rPr lang="en-US" sz="8046" b="true">
                <a:solidFill>
                  <a:srgbClr val="000000"/>
                </a:solidFill>
                <a:latin typeface="Open Sans Bold"/>
                <a:ea typeface="Open Sans Bold"/>
                <a:cs typeface="Open Sans Bold"/>
                <a:sym typeface="Open Sans Bold"/>
              </a:rPr>
              <a:t>Comments </a:t>
            </a:r>
          </a:p>
          <a:p>
            <a:pPr algn="ctr">
              <a:lnSpc>
                <a:spcPts val="8605"/>
              </a:lnSpc>
            </a:pPr>
            <a:r>
              <a:rPr lang="en-US" sz="6146" b="true">
                <a:solidFill>
                  <a:srgbClr val="000000"/>
                </a:solidFill>
                <a:latin typeface="Open Sans Bold"/>
                <a:ea typeface="Open Sans Bold"/>
                <a:cs typeface="Open Sans Bold"/>
                <a:sym typeface="Open Sans Bold"/>
              </a:rPr>
              <a:t>&amp;</a:t>
            </a:r>
          </a:p>
          <a:p>
            <a:pPr algn="ctr">
              <a:lnSpc>
                <a:spcPts val="10145"/>
              </a:lnSpc>
            </a:pPr>
            <a:r>
              <a:rPr lang="en-US" sz="7246">
                <a:solidFill>
                  <a:srgbClr val="000000"/>
                </a:solidFill>
                <a:latin typeface="Open Sans"/>
                <a:ea typeface="Open Sans"/>
                <a:cs typeface="Open Sans"/>
                <a:sym typeface="Open Sans"/>
              </a:rPr>
              <a:t>Preference </a:t>
            </a:r>
            <a:r>
              <a:rPr lang="en-US" b="true" sz="7246">
                <a:solidFill>
                  <a:srgbClr val="000000"/>
                </a:solidFill>
                <a:latin typeface="Open Sans Bold"/>
                <a:ea typeface="Open Sans Bold"/>
                <a:cs typeface="Open Sans Bold"/>
                <a:sym typeface="Open Sans Bold"/>
              </a:rPr>
              <a:t>ideas.</a:t>
            </a:r>
          </a:p>
        </p:txBody>
      </p:sp>
      <p:sp>
        <p:nvSpPr>
          <p:cNvPr name="TextBox 4" id="4"/>
          <p:cNvSpPr txBox="true"/>
          <p:nvPr/>
        </p:nvSpPr>
        <p:spPr>
          <a:xfrm rot="0">
            <a:off x="2807318" y="6883126"/>
            <a:ext cx="2686016" cy="568873"/>
          </a:xfrm>
          <a:prstGeom prst="rect">
            <a:avLst/>
          </a:prstGeom>
        </p:spPr>
        <p:txBody>
          <a:bodyPr anchor="t" rtlCol="false" tIns="0" lIns="0" bIns="0" rIns="0">
            <a:spAutoFit/>
          </a:bodyPr>
          <a:lstStyle/>
          <a:p>
            <a:pPr algn="ctr">
              <a:lnSpc>
                <a:spcPts val="4636"/>
              </a:lnSpc>
            </a:pPr>
            <a:r>
              <a:rPr lang="en-US" sz="3311" b="true">
                <a:solidFill>
                  <a:srgbClr val="000000"/>
                </a:solidFill>
                <a:latin typeface="Open Sans Bold"/>
                <a:ea typeface="Open Sans Bold"/>
                <a:cs typeface="Open Sans Bold"/>
                <a:sym typeface="Open Sans Bold"/>
              </a:rPr>
              <a:t>Focus Bear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9902C"/>
        </a:solidFill>
      </p:bgPr>
    </p:bg>
    <p:spTree>
      <p:nvGrpSpPr>
        <p:cNvPr id="1" name=""/>
        <p:cNvGrpSpPr/>
        <p:nvPr/>
      </p:nvGrpSpPr>
      <p:grpSpPr>
        <a:xfrm>
          <a:off x="0" y="0"/>
          <a:ext cx="0" cy="0"/>
          <a:chOff x="0" y="0"/>
          <a:chExt cx="0" cy="0"/>
        </a:xfrm>
      </p:grpSpPr>
      <p:sp>
        <p:nvSpPr>
          <p:cNvPr name="Freeform 2" id="2"/>
          <p:cNvSpPr/>
          <p:nvPr/>
        </p:nvSpPr>
        <p:spPr>
          <a:xfrm flipH="false" flipV="false" rot="0">
            <a:off x="665372" y="426486"/>
            <a:ext cx="11451456" cy="8831814"/>
          </a:xfrm>
          <a:custGeom>
            <a:avLst/>
            <a:gdLst/>
            <a:ahLst/>
            <a:cxnLst/>
            <a:rect r="r" b="b" t="t" l="l"/>
            <a:pathLst>
              <a:path h="8831814" w="11451456">
                <a:moveTo>
                  <a:pt x="0" y="0"/>
                </a:moveTo>
                <a:lnTo>
                  <a:pt x="11451456" y="0"/>
                </a:lnTo>
                <a:lnTo>
                  <a:pt x="11451456" y="8831814"/>
                </a:lnTo>
                <a:lnTo>
                  <a:pt x="0" y="8831814"/>
                </a:lnTo>
                <a:lnTo>
                  <a:pt x="0" y="0"/>
                </a:lnTo>
                <a:close/>
              </a:path>
            </a:pathLst>
          </a:custGeom>
          <a:blipFill>
            <a:blip r:embed="rId2"/>
            <a:stretch>
              <a:fillRect l="0" t="0" r="0" b="-11313"/>
            </a:stretch>
          </a:blipFill>
        </p:spPr>
      </p:sp>
      <p:sp>
        <p:nvSpPr>
          <p:cNvPr name="Freeform 3" id="3"/>
          <p:cNvSpPr/>
          <p:nvPr/>
        </p:nvSpPr>
        <p:spPr>
          <a:xfrm flipH="false" flipV="false" rot="0">
            <a:off x="12333868" y="1330498"/>
            <a:ext cx="5785478" cy="5669769"/>
          </a:xfrm>
          <a:custGeom>
            <a:avLst/>
            <a:gdLst/>
            <a:ahLst/>
            <a:cxnLst/>
            <a:rect r="r" b="b" t="t" l="l"/>
            <a:pathLst>
              <a:path h="5669769" w="5785478">
                <a:moveTo>
                  <a:pt x="0" y="0"/>
                </a:moveTo>
                <a:lnTo>
                  <a:pt x="5785478" y="0"/>
                </a:lnTo>
                <a:lnTo>
                  <a:pt x="5785478" y="5669769"/>
                </a:lnTo>
                <a:lnTo>
                  <a:pt x="0" y="56697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8964713">
            <a:off x="10149905" y="3143770"/>
            <a:ext cx="2434918" cy="730475"/>
          </a:xfrm>
          <a:custGeom>
            <a:avLst/>
            <a:gdLst/>
            <a:ahLst/>
            <a:cxnLst/>
            <a:rect r="r" b="b" t="t" l="l"/>
            <a:pathLst>
              <a:path h="730475" w="2434918">
                <a:moveTo>
                  <a:pt x="0" y="0"/>
                </a:moveTo>
                <a:lnTo>
                  <a:pt x="2434917" y="0"/>
                </a:lnTo>
                <a:lnTo>
                  <a:pt x="2434917" y="730475"/>
                </a:lnTo>
                <a:lnTo>
                  <a:pt x="0" y="7304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12819595" y="2072345"/>
            <a:ext cx="4814024" cy="4147976"/>
          </a:xfrm>
          <a:prstGeom prst="rect">
            <a:avLst/>
          </a:prstGeom>
        </p:spPr>
        <p:txBody>
          <a:bodyPr anchor="t" rtlCol="false" tIns="0" lIns="0" bIns="0" rIns="0">
            <a:spAutoFit/>
          </a:bodyPr>
          <a:lstStyle/>
          <a:p>
            <a:pPr algn="ctr">
              <a:lnSpc>
                <a:spcPts val="3285"/>
              </a:lnSpc>
            </a:pPr>
            <a:r>
              <a:rPr lang="en-US" sz="2346" b="true">
                <a:solidFill>
                  <a:srgbClr val="000000"/>
                </a:solidFill>
                <a:latin typeface="Open Sans Bold"/>
                <a:ea typeface="Open Sans Bold"/>
                <a:cs typeface="Open Sans Bold"/>
                <a:sym typeface="Open Sans Bold"/>
              </a:rPr>
              <a:t>You can </a:t>
            </a:r>
            <a:r>
              <a:rPr lang="en-US" b="true" sz="2346">
                <a:solidFill>
                  <a:srgbClr val="000000"/>
                </a:solidFill>
                <a:latin typeface="Open Sans Bold"/>
                <a:ea typeface="Open Sans Bold"/>
                <a:cs typeface="Open Sans Bold"/>
                <a:sym typeface="Open Sans Bold"/>
              </a:rPr>
              <a:t>give a presentation such as:</a:t>
            </a:r>
          </a:p>
          <a:p>
            <a:pPr algn="ctr">
              <a:lnSpc>
                <a:spcPts val="3285"/>
              </a:lnSpc>
            </a:pPr>
          </a:p>
          <a:p>
            <a:pPr algn="ctr">
              <a:lnSpc>
                <a:spcPts val="3285"/>
              </a:lnSpc>
            </a:pPr>
            <a:r>
              <a:rPr lang="en-US" b="true" sz="2346">
                <a:solidFill>
                  <a:srgbClr val="000000"/>
                </a:solidFill>
                <a:latin typeface="Open Sans Bold"/>
                <a:ea typeface="Open Sans Bold"/>
                <a:cs typeface="Open Sans Bold"/>
                <a:sym typeface="Open Sans Bold"/>
              </a:rPr>
              <a:t>Welcome aboard!</a:t>
            </a:r>
          </a:p>
          <a:p>
            <a:pPr algn="ctr">
              <a:lnSpc>
                <a:spcPts val="3285"/>
              </a:lnSpc>
            </a:pPr>
          </a:p>
          <a:p>
            <a:pPr algn="ctr">
              <a:lnSpc>
                <a:spcPts val="3285"/>
              </a:lnSpc>
            </a:pPr>
            <a:r>
              <a:rPr lang="en-US" b="true" sz="2346">
                <a:solidFill>
                  <a:srgbClr val="000000"/>
                </a:solidFill>
                <a:latin typeface="Open Sans Bold"/>
                <a:ea typeface="Open Sans Bold"/>
                <a:cs typeface="Open Sans Bold"/>
                <a:sym typeface="Open Sans Bold"/>
              </a:rPr>
              <a:t>Focus Bear helps you stay focused and create healthy habits.</a:t>
            </a:r>
          </a:p>
          <a:p>
            <a:pPr algn="ctr">
              <a:lnSpc>
                <a:spcPts val="3285"/>
              </a:lnSpc>
            </a:pPr>
          </a:p>
          <a:p>
            <a:pPr algn="ctr">
              <a:lnSpc>
                <a:spcPts val="3285"/>
              </a:lnSpc>
            </a:pPr>
            <a:r>
              <a:rPr lang="en-US" b="true" sz="2346">
                <a:solidFill>
                  <a:srgbClr val="000000"/>
                </a:solidFill>
                <a:latin typeface="Open Sans Bold"/>
                <a:ea typeface="Open Sans Bold"/>
                <a:cs typeface="Open Sans Bold"/>
                <a:sym typeface="Open Sans Bold"/>
              </a:rPr>
              <a:t>Let's start being productive!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9902C"/>
        </a:solidFill>
      </p:bgPr>
    </p:bg>
    <p:spTree>
      <p:nvGrpSpPr>
        <p:cNvPr id="1" name=""/>
        <p:cNvGrpSpPr/>
        <p:nvPr/>
      </p:nvGrpSpPr>
      <p:grpSpPr>
        <a:xfrm>
          <a:off x="0" y="0"/>
          <a:ext cx="0" cy="0"/>
          <a:chOff x="0" y="0"/>
          <a:chExt cx="0" cy="0"/>
        </a:xfrm>
      </p:grpSpPr>
      <p:sp>
        <p:nvSpPr>
          <p:cNvPr name="Freeform 2" id="2"/>
          <p:cNvSpPr/>
          <p:nvPr/>
        </p:nvSpPr>
        <p:spPr>
          <a:xfrm flipH="false" flipV="false" rot="0">
            <a:off x="2463548" y="514350"/>
            <a:ext cx="5674535" cy="9258300"/>
          </a:xfrm>
          <a:custGeom>
            <a:avLst/>
            <a:gdLst/>
            <a:ahLst/>
            <a:cxnLst/>
            <a:rect r="r" b="b" t="t" l="l"/>
            <a:pathLst>
              <a:path h="9258300" w="5674535">
                <a:moveTo>
                  <a:pt x="0" y="0"/>
                </a:moveTo>
                <a:lnTo>
                  <a:pt x="5674535" y="0"/>
                </a:lnTo>
                <a:lnTo>
                  <a:pt x="5674535" y="9258300"/>
                </a:lnTo>
                <a:lnTo>
                  <a:pt x="0" y="9258300"/>
                </a:lnTo>
                <a:lnTo>
                  <a:pt x="0" y="0"/>
                </a:lnTo>
                <a:close/>
              </a:path>
            </a:pathLst>
          </a:custGeom>
          <a:blipFill>
            <a:blip r:embed="rId2"/>
            <a:stretch>
              <a:fillRect l="0" t="0" r="0" b="-12696"/>
            </a:stretch>
          </a:blipFill>
        </p:spPr>
      </p:sp>
      <p:grpSp>
        <p:nvGrpSpPr>
          <p:cNvPr name="Group 3" id="3"/>
          <p:cNvGrpSpPr/>
          <p:nvPr/>
        </p:nvGrpSpPr>
        <p:grpSpPr>
          <a:xfrm rot="0">
            <a:off x="3940837" y="4127284"/>
            <a:ext cx="3400835" cy="1016216"/>
            <a:chOff x="0" y="0"/>
            <a:chExt cx="1335436" cy="399046"/>
          </a:xfrm>
        </p:grpSpPr>
        <p:sp>
          <p:nvSpPr>
            <p:cNvPr name="Freeform 4" id="4"/>
            <p:cNvSpPr/>
            <p:nvPr/>
          </p:nvSpPr>
          <p:spPr>
            <a:xfrm flipH="false" flipV="false" rot="0">
              <a:off x="0" y="0"/>
              <a:ext cx="1335436" cy="399046"/>
            </a:xfrm>
            <a:custGeom>
              <a:avLst/>
              <a:gdLst/>
              <a:ahLst/>
              <a:cxnLst/>
              <a:rect r="r" b="b" t="t" l="l"/>
              <a:pathLst>
                <a:path h="399046" w="1335436">
                  <a:moveTo>
                    <a:pt x="667718" y="0"/>
                  </a:moveTo>
                  <a:cubicBezTo>
                    <a:pt x="298948" y="0"/>
                    <a:pt x="0" y="89330"/>
                    <a:pt x="0" y="199523"/>
                  </a:cubicBezTo>
                  <a:cubicBezTo>
                    <a:pt x="0" y="309717"/>
                    <a:pt x="298948" y="399046"/>
                    <a:pt x="667718" y="399046"/>
                  </a:cubicBezTo>
                  <a:cubicBezTo>
                    <a:pt x="1036488" y="399046"/>
                    <a:pt x="1335436" y="309717"/>
                    <a:pt x="1335436" y="199523"/>
                  </a:cubicBezTo>
                  <a:cubicBezTo>
                    <a:pt x="1335436" y="89330"/>
                    <a:pt x="1036488" y="0"/>
                    <a:pt x="667718" y="0"/>
                  </a:cubicBezTo>
                  <a:close/>
                </a:path>
              </a:pathLst>
            </a:custGeom>
            <a:ln w="38100" cap="sq">
              <a:solidFill>
                <a:srgbClr val="000000"/>
              </a:solidFill>
              <a:prstDash val="solid"/>
              <a:miter/>
            </a:ln>
          </p:spPr>
        </p:sp>
        <p:sp>
          <p:nvSpPr>
            <p:cNvPr name="TextBox 5" id="5"/>
            <p:cNvSpPr txBox="true"/>
            <p:nvPr/>
          </p:nvSpPr>
          <p:spPr>
            <a:xfrm>
              <a:off x="125197" y="-689"/>
              <a:ext cx="1085042" cy="362325"/>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341672" y="4331632"/>
            <a:ext cx="2773757" cy="811868"/>
          </a:xfrm>
          <a:custGeom>
            <a:avLst/>
            <a:gdLst/>
            <a:ahLst/>
            <a:cxnLst/>
            <a:rect r="r" b="b" t="t" l="l"/>
            <a:pathLst>
              <a:path h="811868" w="2773757">
                <a:moveTo>
                  <a:pt x="0" y="0"/>
                </a:moveTo>
                <a:lnTo>
                  <a:pt x="2773756" y="0"/>
                </a:lnTo>
                <a:lnTo>
                  <a:pt x="2773756" y="811868"/>
                </a:lnTo>
                <a:lnTo>
                  <a:pt x="0" y="8118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0115428" y="1902681"/>
            <a:ext cx="5785478" cy="5669769"/>
          </a:xfrm>
          <a:custGeom>
            <a:avLst/>
            <a:gdLst/>
            <a:ahLst/>
            <a:cxnLst/>
            <a:rect r="r" b="b" t="t" l="l"/>
            <a:pathLst>
              <a:path h="5669769" w="5785478">
                <a:moveTo>
                  <a:pt x="0" y="0"/>
                </a:moveTo>
                <a:lnTo>
                  <a:pt x="5785479" y="0"/>
                </a:lnTo>
                <a:lnTo>
                  <a:pt x="5785479" y="5669769"/>
                </a:lnTo>
                <a:lnTo>
                  <a:pt x="0" y="566976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0617985" y="1938166"/>
            <a:ext cx="4447627" cy="5634285"/>
          </a:xfrm>
          <a:prstGeom prst="rect">
            <a:avLst/>
          </a:prstGeom>
        </p:spPr>
        <p:txBody>
          <a:bodyPr anchor="t" rtlCol="false" tIns="0" lIns="0" bIns="0" rIns="0">
            <a:spAutoFit/>
          </a:bodyPr>
          <a:lstStyle/>
          <a:p>
            <a:pPr algn="ctr">
              <a:lnSpc>
                <a:spcPts val="4973"/>
              </a:lnSpc>
              <a:spcBef>
                <a:spcPct val="0"/>
              </a:spcBef>
            </a:pPr>
            <a:r>
              <a:rPr lang="en-US" sz="3552">
                <a:solidFill>
                  <a:srgbClr val="000000"/>
                </a:solidFill>
                <a:latin typeface="Open Sans"/>
                <a:ea typeface="Open Sans"/>
                <a:cs typeface="Open Sans"/>
                <a:sym typeface="Open Sans"/>
              </a:rPr>
              <a:t>When you need help in the limited blocking mode section, don't select it.</a:t>
            </a:r>
          </a:p>
          <a:p>
            <a:pPr algn="ctr">
              <a:lnSpc>
                <a:spcPts val="4973"/>
              </a:lnSpc>
              <a:spcBef>
                <a:spcPct val="0"/>
              </a:spcBef>
            </a:pPr>
          </a:p>
          <a:p>
            <a:pPr algn="ctr">
              <a:lnSpc>
                <a:spcPts val="4973"/>
              </a:lnSpc>
              <a:spcBef>
                <a:spcPct val="0"/>
              </a:spcBef>
            </a:pPr>
            <a:r>
              <a:rPr lang="en-US" sz="3552">
                <a:solidFill>
                  <a:srgbClr val="000000"/>
                </a:solidFill>
                <a:latin typeface="Open Sans"/>
                <a:ea typeface="Open Sans"/>
                <a:cs typeface="Open Sans"/>
                <a:sym typeface="Open Sans"/>
              </a:rPr>
              <a:t>It also does not translate functions.</a:t>
            </a:r>
          </a:p>
          <a:p>
            <a:pPr algn="ctr">
              <a:lnSpc>
                <a:spcPts val="4973"/>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9902C"/>
        </a:solidFill>
      </p:bgPr>
    </p:bg>
    <p:spTree>
      <p:nvGrpSpPr>
        <p:cNvPr id="1" name=""/>
        <p:cNvGrpSpPr/>
        <p:nvPr/>
      </p:nvGrpSpPr>
      <p:grpSpPr>
        <a:xfrm>
          <a:off x="0" y="0"/>
          <a:ext cx="0" cy="0"/>
          <a:chOff x="0" y="0"/>
          <a:chExt cx="0" cy="0"/>
        </a:xfrm>
      </p:grpSpPr>
      <p:sp>
        <p:nvSpPr>
          <p:cNvPr name="Freeform 2" id="2"/>
          <p:cNvSpPr/>
          <p:nvPr/>
        </p:nvSpPr>
        <p:spPr>
          <a:xfrm flipH="false" flipV="false" rot="0">
            <a:off x="335497" y="373541"/>
            <a:ext cx="13362427" cy="7285517"/>
          </a:xfrm>
          <a:custGeom>
            <a:avLst/>
            <a:gdLst/>
            <a:ahLst/>
            <a:cxnLst/>
            <a:rect r="r" b="b" t="t" l="l"/>
            <a:pathLst>
              <a:path h="7285517" w="13362427">
                <a:moveTo>
                  <a:pt x="0" y="0"/>
                </a:moveTo>
                <a:lnTo>
                  <a:pt x="13362427" y="0"/>
                </a:lnTo>
                <a:lnTo>
                  <a:pt x="13362427" y="7285518"/>
                </a:lnTo>
                <a:lnTo>
                  <a:pt x="0" y="7285518"/>
                </a:lnTo>
                <a:lnTo>
                  <a:pt x="0" y="0"/>
                </a:lnTo>
                <a:close/>
              </a:path>
            </a:pathLst>
          </a:custGeom>
          <a:blipFill>
            <a:blip r:embed="rId2"/>
            <a:stretch>
              <a:fillRect l="-59539" t="0" r="-4425" b="-60890"/>
            </a:stretch>
          </a:blipFill>
        </p:spPr>
      </p:sp>
      <p:sp>
        <p:nvSpPr>
          <p:cNvPr name="Freeform 3" id="3"/>
          <p:cNvSpPr/>
          <p:nvPr/>
        </p:nvSpPr>
        <p:spPr>
          <a:xfrm flipH="false" flipV="false" rot="0">
            <a:off x="13001224" y="5143500"/>
            <a:ext cx="5107975" cy="5005816"/>
          </a:xfrm>
          <a:custGeom>
            <a:avLst/>
            <a:gdLst/>
            <a:ahLst/>
            <a:cxnLst/>
            <a:rect r="r" b="b" t="t" l="l"/>
            <a:pathLst>
              <a:path h="5005816" w="5107975">
                <a:moveTo>
                  <a:pt x="0" y="0"/>
                </a:moveTo>
                <a:lnTo>
                  <a:pt x="5107975" y="0"/>
                </a:lnTo>
                <a:lnTo>
                  <a:pt x="5107975" y="5005816"/>
                </a:lnTo>
                <a:lnTo>
                  <a:pt x="0" y="500581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422158">
            <a:off x="12111513" y="3842864"/>
            <a:ext cx="2185114" cy="1362525"/>
          </a:xfrm>
          <a:custGeom>
            <a:avLst/>
            <a:gdLst/>
            <a:ahLst/>
            <a:cxnLst/>
            <a:rect r="r" b="b" t="t" l="l"/>
            <a:pathLst>
              <a:path h="1362525" w="2185114">
                <a:moveTo>
                  <a:pt x="0" y="0"/>
                </a:moveTo>
                <a:lnTo>
                  <a:pt x="2185113" y="0"/>
                </a:lnTo>
                <a:lnTo>
                  <a:pt x="2185113" y="1362525"/>
                </a:lnTo>
                <a:lnTo>
                  <a:pt x="0" y="13625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13887312" y="5789294"/>
            <a:ext cx="3197159" cy="3469006"/>
          </a:xfrm>
          <a:prstGeom prst="rect">
            <a:avLst/>
          </a:prstGeom>
        </p:spPr>
        <p:txBody>
          <a:bodyPr anchor="t" rtlCol="false" tIns="0" lIns="0" bIns="0" rIns="0">
            <a:spAutoFit/>
          </a:bodyPr>
          <a:lstStyle/>
          <a:p>
            <a:pPr algn="ctr">
              <a:lnSpc>
                <a:spcPts val="4619"/>
              </a:lnSpc>
              <a:spcBef>
                <a:spcPct val="0"/>
              </a:spcBef>
            </a:pPr>
            <a:r>
              <a:rPr lang="en-US" sz="3299">
                <a:solidFill>
                  <a:srgbClr val="000000"/>
                </a:solidFill>
                <a:latin typeface="Open Sans"/>
                <a:ea typeface="Open Sans"/>
                <a:cs typeface="Open Sans"/>
                <a:sym typeface="Open Sans"/>
              </a:rPr>
              <a:t>The language selection is </a:t>
            </a:r>
            <a:r>
              <a:rPr lang="en-US" b="true" sz="3299">
                <a:solidFill>
                  <a:srgbClr val="000000"/>
                </a:solidFill>
                <a:latin typeface="Open Sans Bold"/>
                <a:ea typeface="Open Sans Bold"/>
                <a:cs typeface="Open Sans Bold"/>
                <a:sym typeface="Open Sans Bold"/>
              </a:rPr>
              <a:t>unstable</a:t>
            </a:r>
            <a:r>
              <a:rPr lang="en-US" sz="3299">
                <a:solidFill>
                  <a:srgbClr val="000000"/>
                </a:solidFill>
                <a:latin typeface="Open Sans"/>
                <a:ea typeface="Open Sans"/>
                <a:cs typeface="Open Sans"/>
                <a:sym typeface="Open Sans"/>
              </a:rPr>
              <a:t>; it does not remain constant.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9902C"/>
        </a:solidFill>
      </p:bgPr>
    </p:bg>
    <p:spTree>
      <p:nvGrpSpPr>
        <p:cNvPr id="1" name=""/>
        <p:cNvGrpSpPr/>
        <p:nvPr/>
      </p:nvGrpSpPr>
      <p:grpSpPr>
        <a:xfrm>
          <a:off x="0" y="0"/>
          <a:ext cx="0" cy="0"/>
          <a:chOff x="0" y="0"/>
          <a:chExt cx="0" cy="0"/>
        </a:xfrm>
      </p:grpSpPr>
      <p:sp>
        <p:nvSpPr>
          <p:cNvPr name="Freeform 2" id="2"/>
          <p:cNvSpPr/>
          <p:nvPr/>
        </p:nvSpPr>
        <p:spPr>
          <a:xfrm flipH="false" flipV="false" rot="0">
            <a:off x="279114" y="748981"/>
            <a:ext cx="12987906" cy="7393276"/>
          </a:xfrm>
          <a:custGeom>
            <a:avLst/>
            <a:gdLst/>
            <a:ahLst/>
            <a:cxnLst/>
            <a:rect r="r" b="b" t="t" l="l"/>
            <a:pathLst>
              <a:path h="7393276" w="12987906">
                <a:moveTo>
                  <a:pt x="0" y="0"/>
                </a:moveTo>
                <a:lnTo>
                  <a:pt x="12987906" y="0"/>
                </a:lnTo>
                <a:lnTo>
                  <a:pt x="12987906" y="7393277"/>
                </a:lnTo>
                <a:lnTo>
                  <a:pt x="0" y="7393277"/>
                </a:lnTo>
                <a:lnTo>
                  <a:pt x="0" y="0"/>
                </a:lnTo>
                <a:close/>
              </a:path>
            </a:pathLst>
          </a:custGeom>
          <a:blipFill>
            <a:blip r:embed="rId2"/>
            <a:stretch>
              <a:fillRect l="0" t="0" r="0" b="0"/>
            </a:stretch>
          </a:blipFill>
        </p:spPr>
      </p:sp>
      <p:sp>
        <p:nvSpPr>
          <p:cNvPr name="Freeform 3" id="3"/>
          <p:cNvSpPr/>
          <p:nvPr/>
        </p:nvSpPr>
        <p:spPr>
          <a:xfrm flipH="false" flipV="false" rot="0">
            <a:off x="12272998" y="4284786"/>
            <a:ext cx="6015002" cy="5894702"/>
          </a:xfrm>
          <a:custGeom>
            <a:avLst/>
            <a:gdLst/>
            <a:ahLst/>
            <a:cxnLst/>
            <a:rect r="r" b="b" t="t" l="l"/>
            <a:pathLst>
              <a:path h="5894702" w="6015002">
                <a:moveTo>
                  <a:pt x="0" y="0"/>
                </a:moveTo>
                <a:lnTo>
                  <a:pt x="6015002" y="0"/>
                </a:lnTo>
                <a:lnTo>
                  <a:pt x="6015002" y="5894702"/>
                </a:lnTo>
                <a:lnTo>
                  <a:pt x="0" y="589470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2718774" y="4852661"/>
            <a:ext cx="5123451" cy="5120071"/>
          </a:xfrm>
          <a:prstGeom prst="rect">
            <a:avLst/>
          </a:prstGeom>
        </p:spPr>
        <p:txBody>
          <a:bodyPr anchor="t" rtlCol="false" tIns="0" lIns="0" bIns="0" rIns="0">
            <a:spAutoFit/>
          </a:bodyPr>
          <a:lstStyle/>
          <a:p>
            <a:pPr algn="ctr">
              <a:lnSpc>
                <a:spcPts val="3391"/>
              </a:lnSpc>
            </a:pPr>
            <a:r>
              <a:rPr lang="en-US" sz="2422">
                <a:solidFill>
                  <a:srgbClr val="000000"/>
                </a:solidFill>
                <a:latin typeface="Open Sans"/>
                <a:ea typeface="Open Sans"/>
                <a:cs typeface="Open Sans"/>
                <a:sym typeface="Open Sans"/>
              </a:rPr>
              <a:t>In the task list section, when a task is added, </a:t>
            </a:r>
            <a:r>
              <a:rPr lang="en-US" sz="2422" b="true">
                <a:solidFill>
                  <a:srgbClr val="000000"/>
                </a:solidFill>
                <a:latin typeface="Open Sans Bold"/>
                <a:ea typeface="Open Sans Bold"/>
                <a:cs typeface="Open Sans Bold"/>
                <a:sym typeface="Open Sans Bold"/>
              </a:rPr>
              <a:t>it should be possible to assign a due time</a:t>
            </a:r>
            <a:r>
              <a:rPr lang="en-US" sz="2422">
                <a:solidFill>
                  <a:srgbClr val="000000"/>
                </a:solidFill>
                <a:latin typeface="Open Sans"/>
                <a:ea typeface="Open Sans"/>
                <a:cs typeface="Open Sans"/>
                <a:sym typeface="Open Sans"/>
              </a:rPr>
              <a:t>, since only the date on which the task will be performed is assigned. By assigning a time,</a:t>
            </a:r>
            <a:r>
              <a:rPr lang="en-US" sz="2422" b="true">
                <a:solidFill>
                  <a:srgbClr val="000000"/>
                </a:solidFill>
                <a:latin typeface="Open Sans Bold"/>
                <a:ea typeface="Open Sans Bold"/>
                <a:cs typeface="Open Sans Bold"/>
                <a:sym typeface="Open Sans Bold"/>
              </a:rPr>
              <a:t> we can even set the app to send us a reminder in a push notification</a:t>
            </a:r>
            <a:r>
              <a:rPr lang="en-US" sz="2422">
                <a:solidFill>
                  <a:srgbClr val="000000"/>
                </a:solidFill>
                <a:latin typeface="Open Sans"/>
                <a:ea typeface="Open Sans"/>
                <a:cs typeface="Open Sans"/>
                <a:sym typeface="Open Sans"/>
              </a:rPr>
              <a:t>, which can also be </a:t>
            </a:r>
            <a:r>
              <a:rPr lang="en-US" sz="2422" b="true">
                <a:solidFill>
                  <a:srgbClr val="000000"/>
                </a:solidFill>
                <a:latin typeface="Open Sans Bold"/>
                <a:ea typeface="Open Sans Bold"/>
                <a:cs typeface="Open Sans Bold"/>
                <a:sym typeface="Open Sans Bold"/>
              </a:rPr>
              <a:t>programmed to remind us at a stipulated time to</a:t>
            </a:r>
            <a:r>
              <a:rPr lang="en-US" sz="2422">
                <a:solidFill>
                  <a:srgbClr val="000000"/>
                </a:solidFill>
                <a:latin typeface="Open Sans"/>
                <a:ea typeface="Open Sans"/>
                <a:cs typeface="Open Sans"/>
                <a:sym typeface="Open Sans"/>
              </a:rPr>
              <a:t> perform the task in advance.</a:t>
            </a:r>
          </a:p>
          <a:p>
            <a:pPr algn="ctr">
              <a:lnSpc>
                <a:spcPts val="3391"/>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9902C"/>
        </a:solidFill>
      </p:bgPr>
    </p:bg>
    <p:spTree>
      <p:nvGrpSpPr>
        <p:cNvPr id="1" name=""/>
        <p:cNvGrpSpPr/>
        <p:nvPr/>
      </p:nvGrpSpPr>
      <p:grpSpPr>
        <a:xfrm>
          <a:off x="0" y="0"/>
          <a:ext cx="0" cy="0"/>
          <a:chOff x="0" y="0"/>
          <a:chExt cx="0" cy="0"/>
        </a:xfrm>
      </p:grpSpPr>
      <p:sp>
        <p:nvSpPr>
          <p:cNvPr name="Freeform 2" id="2"/>
          <p:cNvSpPr/>
          <p:nvPr/>
        </p:nvSpPr>
        <p:spPr>
          <a:xfrm flipH="false" flipV="false" rot="0">
            <a:off x="4500290" y="702339"/>
            <a:ext cx="12987906" cy="7393276"/>
          </a:xfrm>
          <a:custGeom>
            <a:avLst/>
            <a:gdLst/>
            <a:ahLst/>
            <a:cxnLst/>
            <a:rect r="r" b="b" t="t" l="l"/>
            <a:pathLst>
              <a:path h="7393276" w="12987906">
                <a:moveTo>
                  <a:pt x="0" y="0"/>
                </a:moveTo>
                <a:lnTo>
                  <a:pt x="12987906" y="0"/>
                </a:lnTo>
                <a:lnTo>
                  <a:pt x="12987906" y="7393276"/>
                </a:lnTo>
                <a:lnTo>
                  <a:pt x="0" y="7393276"/>
                </a:lnTo>
                <a:lnTo>
                  <a:pt x="0" y="0"/>
                </a:lnTo>
                <a:close/>
              </a:path>
            </a:pathLst>
          </a:custGeom>
          <a:blipFill>
            <a:blip r:embed="rId2"/>
            <a:stretch>
              <a:fillRect l="0" t="0" r="0" b="0"/>
            </a:stretch>
          </a:blipFill>
        </p:spPr>
      </p:sp>
      <p:grpSp>
        <p:nvGrpSpPr>
          <p:cNvPr name="Group 3" id="3"/>
          <p:cNvGrpSpPr/>
          <p:nvPr/>
        </p:nvGrpSpPr>
        <p:grpSpPr>
          <a:xfrm rot="0">
            <a:off x="7600950" y="3600450"/>
            <a:ext cx="6187849" cy="4252171"/>
            <a:chOff x="0" y="0"/>
            <a:chExt cx="2335771" cy="1605097"/>
          </a:xfrm>
        </p:grpSpPr>
        <p:sp>
          <p:nvSpPr>
            <p:cNvPr name="Freeform 4" id="4"/>
            <p:cNvSpPr/>
            <p:nvPr/>
          </p:nvSpPr>
          <p:spPr>
            <a:xfrm flipH="false" flipV="false" rot="0">
              <a:off x="0" y="0"/>
              <a:ext cx="2335771" cy="1605097"/>
            </a:xfrm>
            <a:custGeom>
              <a:avLst/>
              <a:gdLst/>
              <a:ahLst/>
              <a:cxnLst/>
              <a:rect r="r" b="b" t="t" l="l"/>
              <a:pathLst>
                <a:path h="1605097" w="2335771">
                  <a:moveTo>
                    <a:pt x="1167885" y="0"/>
                  </a:moveTo>
                  <a:cubicBezTo>
                    <a:pt x="522880" y="0"/>
                    <a:pt x="0" y="359313"/>
                    <a:pt x="0" y="802549"/>
                  </a:cubicBezTo>
                  <a:cubicBezTo>
                    <a:pt x="0" y="1245784"/>
                    <a:pt x="522880" y="1605097"/>
                    <a:pt x="1167885" y="1605097"/>
                  </a:cubicBezTo>
                  <a:cubicBezTo>
                    <a:pt x="1812891" y="1605097"/>
                    <a:pt x="2335771" y="1245784"/>
                    <a:pt x="2335771" y="802549"/>
                  </a:cubicBezTo>
                  <a:cubicBezTo>
                    <a:pt x="2335771" y="359313"/>
                    <a:pt x="1812891" y="0"/>
                    <a:pt x="1167885" y="0"/>
                  </a:cubicBezTo>
                  <a:lnTo>
                    <a:pt x="1167885" y="0"/>
                  </a:lnTo>
                  <a:close/>
                </a:path>
              </a:pathLst>
            </a:custGeom>
            <a:ln w="38100" cap="rnd">
              <a:solidFill>
                <a:srgbClr val="000000"/>
              </a:solidFill>
              <a:prstDash val="solid"/>
              <a:round/>
            </a:ln>
          </p:spPr>
        </p:sp>
        <p:sp>
          <p:nvSpPr>
            <p:cNvPr name="TextBox 5" id="5"/>
            <p:cNvSpPr txBox="true"/>
            <p:nvPr/>
          </p:nvSpPr>
          <p:spPr>
            <a:xfrm>
              <a:off x="218979" y="112378"/>
              <a:ext cx="1897814" cy="1342241"/>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881172" y="4803802"/>
            <a:ext cx="4735785" cy="4641069"/>
          </a:xfrm>
          <a:custGeom>
            <a:avLst/>
            <a:gdLst/>
            <a:ahLst/>
            <a:cxnLst/>
            <a:rect r="r" b="b" t="t" l="l"/>
            <a:pathLst>
              <a:path h="4641069" w="4735785">
                <a:moveTo>
                  <a:pt x="0" y="0"/>
                </a:moveTo>
                <a:lnTo>
                  <a:pt x="4735784" y="0"/>
                </a:lnTo>
                <a:lnTo>
                  <a:pt x="4735784" y="4641069"/>
                </a:lnTo>
                <a:lnTo>
                  <a:pt x="0" y="46410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5871120" y="7689681"/>
            <a:ext cx="2773757" cy="811868"/>
          </a:xfrm>
          <a:custGeom>
            <a:avLst/>
            <a:gdLst/>
            <a:ahLst/>
            <a:cxnLst/>
            <a:rect r="r" b="b" t="t" l="l"/>
            <a:pathLst>
              <a:path h="811868" w="2773757">
                <a:moveTo>
                  <a:pt x="0" y="0"/>
                </a:moveTo>
                <a:lnTo>
                  <a:pt x="2773756" y="0"/>
                </a:lnTo>
                <a:lnTo>
                  <a:pt x="2773756" y="811868"/>
                </a:lnTo>
                <a:lnTo>
                  <a:pt x="0" y="8118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350019" y="4958352"/>
            <a:ext cx="3471590" cy="4274821"/>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Open Sans"/>
                <a:ea typeface="Open Sans"/>
                <a:cs typeface="Open Sans"/>
                <a:sym typeface="Open Sans"/>
              </a:rPr>
              <a:t>Also in this section, you can see that the options </a:t>
            </a:r>
            <a:r>
              <a:rPr lang="en-US" b="true" sz="2699">
                <a:solidFill>
                  <a:srgbClr val="000000"/>
                </a:solidFill>
                <a:latin typeface="Open Sans Bold"/>
                <a:ea typeface="Open Sans Bold"/>
                <a:cs typeface="Open Sans Bold"/>
                <a:sym typeface="Open Sans Bold"/>
              </a:rPr>
              <a:t>have not been translated.</a:t>
            </a:r>
            <a:r>
              <a:rPr lang="en-US" sz="2699">
                <a:solidFill>
                  <a:srgbClr val="000000"/>
                </a:solidFill>
                <a:latin typeface="Open Sans"/>
                <a:ea typeface="Open Sans"/>
                <a:cs typeface="Open Sans"/>
                <a:sym typeface="Open Sans"/>
              </a:rPr>
              <a:t> In this case, they have not been translated into Spanish, which may </a:t>
            </a:r>
            <a:r>
              <a:rPr lang="en-US" b="true" sz="2699">
                <a:solidFill>
                  <a:srgbClr val="000000"/>
                </a:solidFill>
                <a:latin typeface="Open Sans Bold"/>
                <a:ea typeface="Open Sans Bold"/>
                <a:cs typeface="Open Sans Bold"/>
                <a:sym typeface="Open Sans Bold"/>
              </a:rPr>
              <a:t>be confusing for the user.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9902C"/>
        </a:solidFill>
      </p:bgPr>
    </p:bg>
    <p:spTree>
      <p:nvGrpSpPr>
        <p:cNvPr id="1" name=""/>
        <p:cNvGrpSpPr/>
        <p:nvPr/>
      </p:nvGrpSpPr>
      <p:grpSpPr>
        <a:xfrm>
          <a:off x="0" y="0"/>
          <a:ext cx="0" cy="0"/>
          <a:chOff x="0" y="0"/>
          <a:chExt cx="0" cy="0"/>
        </a:xfrm>
      </p:grpSpPr>
      <p:sp>
        <p:nvSpPr>
          <p:cNvPr name="Freeform 2" id="2"/>
          <p:cNvSpPr/>
          <p:nvPr/>
        </p:nvSpPr>
        <p:spPr>
          <a:xfrm flipH="false" flipV="false" rot="0">
            <a:off x="7981987" y="1028700"/>
            <a:ext cx="9691342" cy="4598027"/>
          </a:xfrm>
          <a:custGeom>
            <a:avLst/>
            <a:gdLst/>
            <a:ahLst/>
            <a:cxnLst/>
            <a:rect r="r" b="b" t="t" l="l"/>
            <a:pathLst>
              <a:path h="4598027" w="9691342">
                <a:moveTo>
                  <a:pt x="0" y="0"/>
                </a:moveTo>
                <a:lnTo>
                  <a:pt x="9691342" y="0"/>
                </a:lnTo>
                <a:lnTo>
                  <a:pt x="9691342" y="4598027"/>
                </a:lnTo>
                <a:lnTo>
                  <a:pt x="0" y="4598027"/>
                </a:lnTo>
                <a:lnTo>
                  <a:pt x="0" y="0"/>
                </a:lnTo>
                <a:close/>
              </a:path>
            </a:pathLst>
          </a:custGeom>
          <a:blipFill>
            <a:blip r:embed="rId2"/>
            <a:stretch>
              <a:fillRect l="0" t="-91" r="-171867" b="-11834"/>
            </a:stretch>
          </a:blipFill>
        </p:spPr>
      </p:sp>
      <p:sp>
        <p:nvSpPr>
          <p:cNvPr name="Freeform 3" id="3"/>
          <p:cNvSpPr/>
          <p:nvPr/>
        </p:nvSpPr>
        <p:spPr>
          <a:xfrm flipH="false" flipV="false" rot="0">
            <a:off x="1028700" y="1365916"/>
            <a:ext cx="6810460" cy="6674251"/>
          </a:xfrm>
          <a:custGeom>
            <a:avLst/>
            <a:gdLst/>
            <a:ahLst/>
            <a:cxnLst/>
            <a:rect r="r" b="b" t="t" l="l"/>
            <a:pathLst>
              <a:path h="6674251" w="6810460">
                <a:moveTo>
                  <a:pt x="0" y="0"/>
                </a:moveTo>
                <a:lnTo>
                  <a:pt x="6810460" y="0"/>
                </a:lnTo>
                <a:lnTo>
                  <a:pt x="6810460" y="6674251"/>
                </a:lnTo>
                <a:lnTo>
                  <a:pt x="0" y="66742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5400000">
            <a:off x="12238758" y="3418987"/>
            <a:ext cx="541480" cy="5414796"/>
          </a:xfrm>
          <a:custGeom>
            <a:avLst/>
            <a:gdLst/>
            <a:ahLst/>
            <a:cxnLst/>
            <a:rect r="r" b="b" t="t" l="l"/>
            <a:pathLst>
              <a:path h="5414796" w="541480">
                <a:moveTo>
                  <a:pt x="0" y="0"/>
                </a:moveTo>
                <a:lnTo>
                  <a:pt x="541480" y="0"/>
                </a:lnTo>
                <a:lnTo>
                  <a:pt x="541480" y="5414796"/>
                </a:lnTo>
                <a:lnTo>
                  <a:pt x="0" y="541479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7839160" y="6626043"/>
            <a:ext cx="3925880" cy="1149091"/>
          </a:xfrm>
          <a:custGeom>
            <a:avLst/>
            <a:gdLst/>
            <a:ahLst/>
            <a:cxnLst/>
            <a:rect r="r" b="b" t="t" l="l"/>
            <a:pathLst>
              <a:path h="1149091" w="3925880">
                <a:moveTo>
                  <a:pt x="0" y="0"/>
                </a:moveTo>
                <a:lnTo>
                  <a:pt x="3925880" y="0"/>
                </a:lnTo>
                <a:lnTo>
                  <a:pt x="3925880" y="1149091"/>
                </a:lnTo>
                <a:lnTo>
                  <a:pt x="0" y="11490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1840885" y="2732415"/>
            <a:ext cx="5186089" cy="3863349"/>
          </a:xfrm>
          <a:prstGeom prst="rect">
            <a:avLst/>
          </a:prstGeom>
        </p:spPr>
        <p:txBody>
          <a:bodyPr anchor="t" rtlCol="false" tIns="0" lIns="0" bIns="0" rIns="0">
            <a:spAutoFit/>
          </a:bodyPr>
          <a:lstStyle/>
          <a:p>
            <a:pPr algn="ctr">
              <a:lnSpc>
                <a:spcPts val="3884"/>
              </a:lnSpc>
              <a:spcBef>
                <a:spcPct val="0"/>
              </a:spcBef>
            </a:pPr>
            <a:r>
              <a:rPr lang="en-US" sz="2774">
                <a:solidFill>
                  <a:srgbClr val="000000"/>
                </a:solidFill>
                <a:latin typeface="Open Sans"/>
                <a:ea typeface="Open Sans"/>
                <a:cs typeface="Open Sans"/>
                <a:sym typeface="Open Sans"/>
              </a:rPr>
              <a:t>Also, when attempting to create a task that must be completed on the same day, it schedules it as if the deadline </a:t>
            </a:r>
            <a:r>
              <a:rPr lang="en-US" b="true" sz="2774">
                <a:solidFill>
                  <a:srgbClr val="000000"/>
                </a:solidFill>
                <a:latin typeface="Open Sans Bold"/>
                <a:ea typeface="Open Sans Bold"/>
                <a:cs typeface="Open Sans Bold"/>
                <a:sym typeface="Open Sans Bold"/>
              </a:rPr>
              <a:t>were the previous day</a:t>
            </a:r>
            <a:r>
              <a:rPr lang="en-US" sz="2774">
                <a:solidFill>
                  <a:srgbClr val="000000"/>
                </a:solidFill>
                <a:latin typeface="Open Sans"/>
                <a:ea typeface="Open Sans"/>
                <a:cs typeface="Open Sans"/>
                <a:sym typeface="Open Sans"/>
              </a:rPr>
              <a:t> when it should be the current date, in this case the same date of creation.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9902C"/>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365916"/>
            <a:ext cx="6810460" cy="6674251"/>
          </a:xfrm>
          <a:custGeom>
            <a:avLst/>
            <a:gdLst/>
            <a:ahLst/>
            <a:cxnLst/>
            <a:rect r="r" b="b" t="t" l="l"/>
            <a:pathLst>
              <a:path h="6674251" w="6810460">
                <a:moveTo>
                  <a:pt x="0" y="0"/>
                </a:moveTo>
                <a:lnTo>
                  <a:pt x="6810460" y="0"/>
                </a:lnTo>
                <a:lnTo>
                  <a:pt x="6810460" y="6674251"/>
                </a:lnTo>
                <a:lnTo>
                  <a:pt x="0" y="66742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839160" y="6058684"/>
            <a:ext cx="3925880" cy="1149091"/>
          </a:xfrm>
          <a:custGeom>
            <a:avLst/>
            <a:gdLst/>
            <a:ahLst/>
            <a:cxnLst/>
            <a:rect r="r" b="b" t="t" l="l"/>
            <a:pathLst>
              <a:path h="1149091" w="3925880">
                <a:moveTo>
                  <a:pt x="0" y="0"/>
                </a:moveTo>
                <a:lnTo>
                  <a:pt x="3925880" y="0"/>
                </a:lnTo>
                <a:lnTo>
                  <a:pt x="3925880" y="1149091"/>
                </a:lnTo>
                <a:lnTo>
                  <a:pt x="0" y="11490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303909" y="2780040"/>
            <a:ext cx="9984091" cy="2298820"/>
          </a:xfrm>
          <a:custGeom>
            <a:avLst/>
            <a:gdLst/>
            <a:ahLst/>
            <a:cxnLst/>
            <a:rect r="r" b="b" t="t" l="l"/>
            <a:pathLst>
              <a:path h="2298820" w="9984091">
                <a:moveTo>
                  <a:pt x="0" y="0"/>
                </a:moveTo>
                <a:lnTo>
                  <a:pt x="9984091" y="0"/>
                </a:lnTo>
                <a:lnTo>
                  <a:pt x="9984091" y="2298821"/>
                </a:lnTo>
                <a:lnTo>
                  <a:pt x="0" y="2298821"/>
                </a:lnTo>
                <a:lnTo>
                  <a:pt x="0" y="0"/>
                </a:lnTo>
                <a:close/>
              </a:path>
            </a:pathLst>
          </a:custGeom>
          <a:blipFill>
            <a:blip r:embed="rId6"/>
            <a:stretch>
              <a:fillRect l="0" t="0" r="0" b="0"/>
            </a:stretch>
          </a:blipFill>
        </p:spPr>
      </p:sp>
      <p:sp>
        <p:nvSpPr>
          <p:cNvPr name="TextBox 5" id="5"/>
          <p:cNvSpPr txBox="true"/>
          <p:nvPr/>
        </p:nvSpPr>
        <p:spPr>
          <a:xfrm rot="0">
            <a:off x="1840885" y="2713365"/>
            <a:ext cx="5186089" cy="3919864"/>
          </a:xfrm>
          <a:prstGeom prst="rect">
            <a:avLst/>
          </a:prstGeom>
        </p:spPr>
        <p:txBody>
          <a:bodyPr anchor="t" rtlCol="false" tIns="0" lIns="0" bIns="0" rIns="0">
            <a:spAutoFit/>
          </a:bodyPr>
          <a:lstStyle/>
          <a:p>
            <a:pPr algn="ctr">
              <a:lnSpc>
                <a:spcPts val="4444"/>
              </a:lnSpc>
              <a:spcBef>
                <a:spcPct val="0"/>
              </a:spcBef>
            </a:pPr>
            <a:r>
              <a:rPr lang="en-US" sz="3174">
                <a:solidFill>
                  <a:srgbClr val="000000"/>
                </a:solidFill>
                <a:latin typeface="Open Sans"/>
                <a:ea typeface="Open Sans"/>
                <a:cs typeface="Open Sans"/>
                <a:sym typeface="Open Sans"/>
              </a:rPr>
              <a:t>T</a:t>
            </a:r>
            <a:r>
              <a:rPr lang="en-US" sz="3174">
                <a:solidFill>
                  <a:srgbClr val="000000"/>
                </a:solidFill>
                <a:latin typeface="Open Sans"/>
                <a:ea typeface="Open Sans"/>
                <a:cs typeface="Open Sans"/>
                <a:sym typeface="Open Sans"/>
              </a:rPr>
              <a:t>he same thing happens if I assign a </a:t>
            </a:r>
            <a:r>
              <a:rPr lang="en-US" b="true" sz="3174">
                <a:solidFill>
                  <a:srgbClr val="000000"/>
                </a:solidFill>
                <a:latin typeface="Open Sans Bold"/>
                <a:ea typeface="Open Sans Bold"/>
                <a:cs typeface="Open Sans Bold"/>
                <a:sym typeface="Open Sans Bold"/>
              </a:rPr>
              <a:t>task for the next day:</a:t>
            </a:r>
            <a:r>
              <a:rPr lang="en-US" sz="3174">
                <a:solidFill>
                  <a:srgbClr val="000000"/>
                </a:solidFill>
                <a:latin typeface="Open Sans"/>
                <a:ea typeface="Open Sans"/>
                <a:cs typeface="Open Sans"/>
                <a:sym typeface="Open Sans"/>
              </a:rPr>
              <a:t> it </a:t>
            </a:r>
            <a:r>
              <a:rPr lang="en-US" b="true" sz="3174">
                <a:solidFill>
                  <a:srgbClr val="000000"/>
                </a:solidFill>
                <a:latin typeface="Open Sans Bold"/>
                <a:ea typeface="Open Sans Bold"/>
                <a:cs typeface="Open Sans Bold"/>
                <a:sym typeface="Open Sans Bold"/>
              </a:rPr>
              <a:t>marks it with the same day's deadline</a:t>
            </a:r>
            <a:r>
              <a:rPr lang="en-US" sz="3174">
                <a:solidFill>
                  <a:srgbClr val="000000"/>
                </a:solidFill>
                <a:latin typeface="Open Sans"/>
                <a:ea typeface="Open Sans"/>
                <a:cs typeface="Open Sans"/>
                <a:sym typeface="Open Sans"/>
              </a:rPr>
              <a:t>, when it should indicate that it is for the next day until a certain time.</a:t>
            </a:r>
          </a:p>
        </p:txBody>
      </p:sp>
      <p:sp>
        <p:nvSpPr>
          <p:cNvPr name="Freeform 6" id="6"/>
          <p:cNvSpPr/>
          <p:nvPr/>
        </p:nvSpPr>
        <p:spPr>
          <a:xfrm flipH="false" flipV="false" rot="-5400000">
            <a:off x="12238758" y="2100723"/>
            <a:ext cx="541480" cy="5414796"/>
          </a:xfrm>
          <a:custGeom>
            <a:avLst/>
            <a:gdLst/>
            <a:ahLst/>
            <a:cxnLst/>
            <a:rect r="r" b="b" t="t" l="l"/>
            <a:pathLst>
              <a:path h="5414796" w="541480">
                <a:moveTo>
                  <a:pt x="0" y="0"/>
                </a:moveTo>
                <a:lnTo>
                  <a:pt x="541480" y="0"/>
                </a:lnTo>
                <a:lnTo>
                  <a:pt x="541480" y="5414796"/>
                </a:lnTo>
                <a:lnTo>
                  <a:pt x="0" y="541479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9902C"/>
        </a:solidFill>
      </p:bgPr>
    </p:bg>
    <p:spTree>
      <p:nvGrpSpPr>
        <p:cNvPr id="1" name=""/>
        <p:cNvGrpSpPr/>
        <p:nvPr/>
      </p:nvGrpSpPr>
      <p:grpSpPr>
        <a:xfrm>
          <a:off x="0" y="0"/>
          <a:ext cx="0" cy="0"/>
          <a:chOff x="0" y="0"/>
          <a:chExt cx="0" cy="0"/>
        </a:xfrm>
      </p:grpSpPr>
      <p:sp>
        <p:nvSpPr>
          <p:cNvPr name="Freeform 2" id="2"/>
          <p:cNvSpPr/>
          <p:nvPr/>
        </p:nvSpPr>
        <p:spPr>
          <a:xfrm flipH="false" flipV="false" rot="0">
            <a:off x="644084" y="759028"/>
            <a:ext cx="11985880" cy="9285595"/>
          </a:xfrm>
          <a:custGeom>
            <a:avLst/>
            <a:gdLst/>
            <a:ahLst/>
            <a:cxnLst/>
            <a:rect r="r" b="b" t="t" l="l"/>
            <a:pathLst>
              <a:path h="9285595" w="11985880">
                <a:moveTo>
                  <a:pt x="0" y="0"/>
                </a:moveTo>
                <a:lnTo>
                  <a:pt x="11985879" y="0"/>
                </a:lnTo>
                <a:lnTo>
                  <a:pt x="11985879" y="9285594"/>
                </a:lnTo>
                <a:lnTo>
                  <a:pt x="0" y="9285594"/>
                </a:lnTo>
                <a:lnTo>
                  <a:pt x="0" y="0"/>
                </a:lnTo>
                <a:close/>
              </a:path>
            </a:pathLst>
          </a:custGeom>
          <a:blipFill>
            <a:blip r:embed="rId2"/>
            <a:stretch>
              <a:fillRect l="0" t="0" r="-768" b="-3108"/>
            </a:stretch>
          </a:blipFill>
        </p:spPr>
      </p:sp>
      <p:sp>
        <p:nvSpPr>
          <p:cNvPr name="Freeform 3" id="3"/>
          <p:cNvSpPr/>
          <p:nvPr/>
        </p:nvSpPr>
        <p:spPr>
          <a:xfrm flipH="false" flipV="false" rot="0">
            <a:off x="10580946" y="4374854"/>
            <a:ext cx="5785478" cy="5669769"/>
          </a:xfrm>
          <a:custGeom>
            <a:avLst/>
            <a:gdLst/>
            <a:ahLst/>
            <a:cxnLst/>
            <a:rect r="r" b="b" t="t" l="l"/>
            <a:pathLst>
              <a:path h="5669769" w="5785478">
                <a:moveTo>
                  <a:pt x="0" y="0"/>
                </a:moveTo>
                <a:lnTo>
                  <a:pt x="5785478" y="0"/>
                </a:lnTo>
                <a:lnTo>
                  <a:pt x="5785478" y="5669768"/>
                </a:lnTo>
                <a:lnTo>
                  <a:pt x="0" y="56697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956723" y="4771464"/>
            <a:ext cx="5033924" cy="5434331"/>
          </a:xfrm>
          <a:prstGeom prst="rect">
            <a:avLst/>
          </a:prstGeom>
        </p:spPr>
        <p:txBody>
          <a:bodyPr anchor="t" rtlCol="false" tIns="0" lIns="0" bIns="0" rIns="0">
            <a:spAutoFit/>
          </a:bodyPr>
          <a:lstStyle/>
          <a:p>
            <a:pPr algn="ctr">
              <a:lnSpc>
                <a:spcPts val="3919"/>
              </a:lnSpc>
              <a:spcBef>
                <a:spcPct val="0"/>
              </a:spcBef>
            </a:pPr>
            <a:r>
              <a:rPr lang="en-US" sz="2799">
                <a:solidFill>
                  <a:srgbClr val="000000"/>
                </a:solidFill>
                <a:latin typeface="Open Sans"/>
                <a:ea typeface="Open Sans"/>
                <a:cs typeface="Open Sans"/>
                <a:sym typeface="Open Sans"/>
              </a:rPr>
              <a:t>I schedule all activities as important even though they have different intervals.</a:t>
            </a:r>
          </a:p>
          <a:p>
            <a:pPr algn="ctr">
              <a:lnSpc>
                <a:spcPts val="3919"/>
              </a:lnSpc>
              <a:spcBef>
                <a:spcPct val="0"/>
              </a:spcBef>
            </a:pPr>
            <a:r>
              <a:rPr lang="en-US" sz="2799">
                <a:solidFill>
                  <a:srgbClr val="000000"/>
                </a:solidFill>
                <a:latin typeface="Open Sans"/>
                <a:ea typeface="Open Sans"/>
                <a:cs typeface="Open Sans"/>
                <a:sym typeface="Open Sans"/>
              </a:rPr>
              <a:t>Schedule all activities as important, even if they have different deadlines, and there is no help option on how to place them in the “do,” “decide,” “delegate,” and “delete” sections.</a:t>
            </a:r>
          </a:p>
          <a:p>
            <a:pPr algn="ctr">
              <a:lnSpc>
                <a:spcPts val="3919"/>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9902C"/>
        </a:solidFill>
      </p:bgPr>
    </p:bg>
    <p:spTree>
      <p:nvGrpSpPr>
        <p:cNvPr id="1" name=""/>
        <p:cNvGrpSpPr/>
        <p:nvPr/>
      </p:nvGrpSpPr>
      <p:grpSpPr>
        <a:xfrm>
          <a:off x="0" y="0"/>
          <a:ext cx="0" cy="0"/>
          <a:chOff x="0" y="0"/>
          <a:chExt cx="0" cy="0"/>
        </a:xfrm>
      </p:grpSpPr>
      <p:sp>
        <p:nvSpPr>
          <p:cNvPr name="Freeform 2" id="2"/>
          <p:cNvSpPr/>
          <p:nvPr/>
        </p:nvSpPr>
        <p:spPr>
          <a:xfrm flipH="false" flipV="false" rot="0">
            <a:off x="234449" y="1273298"/>
            <a:ext cx="17819102" cy="2715575"/>
          </a:xfrm>
          <a:custGeom>
            <a:avLst/>
            <a:gdLst/>
            <a:ahLst/>
            <a:cxnLst/>
            <a:rect r="r" b="b" t="t" l="l"/>
            <a:pathLst>
              <a:path h="2715575" w="17819102">
                <a:moveTo>
                  <a:pt x="0" y="0"/>
                </a:moveTo>
                <a:lnTo>
                  <a:pt x="17819102" y="0"/>
                </a:lnTo>
                <a:lnTo>
                  <a:pt x="17819102" y="2715575"/>
                </a:lnTo>
                <a:lnTo>
                  <a:pt x="0" y="2715575"/>
                </a:lnTo>
                <a:lnTo>
                  <a:pt x="0" y="0"/>
                </a:lnTo>
                <a:close/>
              </a:path>
            </a:pathLst>
          </a:custGeom>
          <a:blipFill>
            <a:blip r:embed="rId2"/>
            <a:stretch>
              <a:fillRect l="0" t="0" r="-25499" b="-429504"/>
            </a:stretch>
          </a:blipFill>
        </p:spPr>
      </p:sp>
      <p:grpSp>
        <p:nvGrpSpPr>
          <p:cNvPr name="Group 3" id="3"/>
          <p:cNvGrpSpPr/>
          <p:nvPr/>
        </p:nvGrpSpPr>
        <p:grpSpPr>
          <a:xfrm rot="0">
            <a:off x="3227440" y="4793813"/>
            <a:ext cx="9347416" cy="4953683"/>
            <a:chOff x="0" y="0"/>
            <a:chExt cx="1458887" cy="773140"/>
          </a:xfrm>
        </p:grpSpPr>
        <p:sp>
          <p:nvSpPr>
            <p:cNvPr name="Freeform 4" id="4"/>
            <p:cNvSpPr/>
            <p:nvPr/>
          </p:nvSpPr>
          <p:spPr>
            <a:xfrm flipH="false" flipV="false" rot="0">
              <a:off x="0" y="0"/>
              <a:ext cx="1458887" cy="773140"/>
            </a:xfrm>
            <a:custGeom>
              <a:avLst/>
              <a:gdLst/>
              <a:ahLst/>
              <a:cxnLst/>
              <a:rect r="r" b="b" t="t" l="l"/>
              <a:pathLst>
                <a:path h="773140" w="1458887">
                  <a:moveTo>
                    <a:pt x="38927" y="0"/>
                  </a:moveTo>
                  <a:lnTo>
                    <a:pt x="1419959" y="0"/>
                  </a:lnTo>
                  <a:cubicBezTo>
                    <a:pt x="1441458" y="0"/>
                    <a:pt x="1458887" y="17428"/>
                    <a:pt x="1458887" y="38927"/>
                  </a:cubicBezTo>
                  <a:lnTo>
                    <a:pt x="1458887" y="734213"/>
                  </a:lnTo>
                  <a:cubicBezTo>
                    <a:pt x="1458887" y="755712"/>
                    <a:pt x="1441458" y="773140"/>
                    <a:pt x="1419959" y="773140"/>
                  </a:cubicBezTo>
                  <a:lnTo>
                    <a:pt x="38927" y="773140"/>
                  </a:lnTo>
                  <a:cubicBezTo>
                    <a:pt x="28603" y="773140"/>
                    <a:pt x="18702" y="769039"/>
                    <a:pt x="11402" y="761738"/>
                  </a:cubicBezTo>
                  <a:cubicBezTo>
                    <a:pt x="4101" y="754438"/>
                    <a:pt x="0" y="744537"/>
                    <a:pt x="0" y="734213"/>
                  </a:cubicBezTo>
                  <a:lnTo>
                    <a:pt x="0" y="38927"/>
                  </a:lnTo>
                  <a:cubicBezTo>
                    <a:pt x="0" y="17428"/>
                    <a:pt x="17428" y="0"/>
                    <a:pt x="38927" y="0"/>
                  </a:cubicBezTo>
                  <a:close/>
                </a:path>
              </a:pathLst>
            </a:custGeom>
            <a:solidFill>
              <a:srgbClr val="EBB665"/>
            </a:solidFill>
          </p:spPr>
        </p:sp>
        <p:sp>
          <p:nvSpPr>
            <p:cNvPr name="TextBox 5" id="5"/>
            <p:cNvSpPr txBox="true"/>
            <p:nvPr/>
          </p:nvSpPr>
          <p:spPr>
            <a:xfrm>
              <a:off x="0" y="-47625"/>
              <a:ext cx="1458887" cy="820765"/>
            </a:xfrm>
            <a:prstGeom prst="rect">
              <a:avLst/>
            </a:prstGeom>
          </p:spPr>
          <p:txBody>
            <a:bodyPr anchor="ctr" rtlCol="false" tIns="50800" lIns="50800" bIns="50800" rIns="50800"/>
            <a:lstStyle/>
            <a:p>
              <a:pPr algn="ctr">
                <a:lnSpc>
                  <a:spcPts val="4199"/>
                </a:lnSpc>
              </a:pPr>
              <a:r>
                <a:rPr lang="en-US" sz="2999">
                  <a:solidFill>
                    <a:srgbClr val="000000"/>
                  </a:solidFill>
                  <a:latin typeface="Open Sans"/>
                  <a:ea typeface="Open Sans"/>
                  <a:cs typeface="Open Sans"/>
                  <a:sym typeface="Open Sans"/>
                </a:rPr>
                <a:t>In the “Brainstorming” section, I think i</a:t>
              </a:r>
              <a:r>
                <a:rPr lang="en-US" b="true" sz="2999">
                  <a:solidFill>
                    <a:srgbClr val="000000"/>
                  </a:solidFill>
                  <a:latin typeface="Open Sans Bold"/>
                  <a:ea typeface="Open Sans Bold"/>
                  <a:cs typeface="Open Sans Bold"/>
                  <a:sym typeface="Open Sans Bold"/>
                </a:rPr>
                <a:t>t should be more attractive</a:t>
              </a:r>
              <a:r>
                <a:rPr lang="en-US" sz="2999">
                  <a:solidFill>
                    <a:srgbClr val="000000"/>
                  </a:solidFill>
                  <a:latin typeface="Open Sans"/>
                  <a:ea typeface="Open Sans"/>
                  <a:cs typeface="Open Sans"/>
                  <a:sym typeface="Open Sans"/>
                </a:rPr>
                <a:t>, where you can create several sections to organize ideas, instead of a simple table</a:t>
              </a:r>
              <a:r>
                <a:rPr lang="en-US" b="true" sz="2999">
                  <a:solidFill>
                    <a:srgbClr val="000000"/>
                  </a:solidFill>
                  <a:latin typeface="Open Sans Bold"/>
                  <a:ea typeface="Open Sans Bold"/>
                  <a:cs typeface="Open Sans Bold"/>
                  <a:sym typeface="Open Sans Bold"/>
                </a:rPr>
                <a:t>. It should be possible to create different pages </a:t>
              </a:r>
              <a:r>
                <a:rPr lang="en-US" sz="2999">
                  <a:solidFill>
                    <a:srgbClr val="000000"/>
                  </a:solidFill>
                  <a:latin typeface="Open Sans"/>
                  <a:ea typeface="Open Sans"/>
                  <a:cs typeface="Open Sans"/>
                  <a:sym typeface="Open Sans"/>
                </a:rPr>
                <a:t>so that ideas are clear about how they will be used and in what way.</a:t>
              </a:r>
            </a:p>
          </p:txBody>
        </p:sp>
      </p:grpSp>
      <p:sp>
        <p:nvSpPr>
          <p:cNvPr name="Freeform 6" id="6"/>
          <p:cNvSpPr/>
          <p:nvPr/>
        </p:nvSpPr>
        <p:spPr>
          <a:xfrm flipH="false" flipV="false" rot="6967588">
            <a:off x="11994410" y="4282907"/>
            <a:ext cx="4959784" cy="3092668"/>
          </a:xfrm>
          <a:custGeom>
            <a:avLst/>
            <a:gdLst/>
            <a:ahLst/>
            <a:cxnLst/>
            <a:rect r="r" b="b" t="t" l="l"/>
            <a:pathLst>
              <a:path h="3092668" w="4959784">
                <a:moveTo>
                  <a:pt x="0" y="0"/>
                </a:moveTo>
                <a:lnTo>
                  <a:pt x="4959785" y="0"/>
                </a:lnTo>
                <a:lnTo>
                  <a:pt x="4959785" y="3092669"/>
                </a:lnTo>
                <a:lnTo>
                  <a:pt x="0" y="30926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9902C"/>
        </a:solidFill>
      </p:bgPr>
    </p:bg>
    <p:spTree>
      <p:nvGrpSpPr>
        <p:cNvPr id="1" name=""/>
        <p:cNvGrpSpPr/>
        <p:nvPr/>
      </p:nvGrpSpPr>
      <p:grpSpPr>
        <a:xfrm>
          <a:off x="0" y="0"/>
          <a:ext cx="0" cy="0"/>
          <a:chOff x="0" y="0"/>
          <a:chExt cx="0" cy="0"/>
        </a:xfrm>
      </p:grpSpPr>
      <p:sp>
        <p:nvSpPr>
          <p:cNvPr name="Freeform 2" id="2"/>
          <p:cNvSpPr/>
          <p:nvPr/>
        </p:nvSpPr>
        <p:spPr>
          <a:xfrm flipH="false" flipV="false" rot="0">
            <a:off x="587489" y="914993"/>
            <a:ext cx="16671811" cy="9372007"/>
          </a:xfrm>
          <a:custGeom>
            <a:avLst/>
            <a:gdLst/>
            <a:ahLst/>
            <a:cxnLst/>
            <a:rect r="r" b="b" t="t" l="l"/>
            <a:pathLst>
              <a:path h="9372007" w="16671811">
                <a:moveTo>
                  <a:pt x="0" y="0"/>
                </a:moveTo>
                <a:lnTo>
                  <a:pt x="16671811" y="0"/>
                </a:lnTo>
                <a:lnTo>
                  <a:pt x="16671811" y="9372007"/>
                </a:lnTo>
                <a:lnTo>
                  <a:pt x="0" y="9372007"/>
                </a:lnTo>
                <a:lnTo>
                  <a:pt x="0" y="0"/>
                </a:lnTo>
                <a:close/>
              </a:path>
            </a:pathLst>
          </a:custGeom>
          <a:blipFill>
            <a:blip r:embed="rId2"/>
            <a:stretch>
              <a:fillRect l="0" t="0" r="0" b="0"/>
            </a:stretch>
          </a:blipFill>
        </p:spPr>
      </p:sp>
      <p:sp>
        <p:nvSpPr>
          <p:cNvPr name="Freeform 3" id="3"/>
          <p:cNvSpPr/>
          <p:nvPr/>
        </p:nvSpPr>
        <p:spPr>
          <a:xfrm flipH="false" flipV="false" rot="0">
            <a:off x="10898623" y="4469079"/>
            <a:ext cx="5785478" cy="5669769"/>
          </a:xfrm>
          <a:custGeom>
            <a:avLst/>
            <a:gdLst/>
            <a:ahLst/>
            <a:cxnLst/>
            <a:rect r="r" b="b" t="t" l="l"/>
            <a:pathLst>
              <a:path h="5669769" w="5785478">
                <a:moveTo>
                  <a:pt x="0" y="0"/>
                </a:moveTo>
                <a:lnTo>
                  <a:pt x="5785478" y="0"/>
                </a:lnTo>
                <a:lnTo>
                  <a:pt x="5785478" y="5669769"/>
                </a:lnTo>
                <a:lnTo>
                  <a:pt x="0" y="56697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6749852">
            <a:off x="8969850" y="3300906"/>
            <a:ext cx="2773757" cy="811868"/>
          </a:xfrm>
          <a:custGeom>
            <a:avLst/>
            <a:gdLst/>
            <a:ahLst/>
            <a:cxnLst/>
            <a:rect r="r" b="b" t="t" l="l"/>
            <a:pathLst>
              <a:path h="811868" w="2773757">
                <a:moveTo>
                  <a:pt x="0" y="0"/>
                </a:moveTo>
                <a:lnTo>
                  <a:pt x="2773757" y="0"/>
                </a:lnTo>
                <a:lnTo>
                  <a:pt x="2773757" y="811869"/>
                </a:lnTo>
                <a:lnTo>
                  <a:pt x="0" y="81186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11262449" y="4711893"/>
            <a:ext cx="4690928" cy="5126991"/>
          </a:xfrm>
          <a:prstGeom prst="rect">
            <a:avLst/>
          </a:prstGeom>
        </p:spPr>
        <p:txBody>
          <a:bodyPr anchor="t" rtlCol="false" tIns="0" lIns="0" bIns="0" rIns="0">
            <a:spAutoFit/>
          </a:bodyPr>
          <a:lstStyle/>
          <a:p>
            <a:pPr algn="ctr">
              <a:lnSpc>
                <a:spcPts val="4059"/>
              </a:lnSpc>
              <a:spcBef>
                <a:spcPct val="0"/>
              </a:spcBef>
            </a:pPr>
            <a:r>
              <a:rPr lang="en-US" sz="2899">
                <a:solidFill>
                  <a:srgbClr val="000000"/>
                </a:solidFill>
                <a:latin typeface="Open Sans"/>
                <a:ea typeface="Open Sans"/>
                <a:cs typeface="Open Sans"/>
                <a:sym typeface="Open Sans"/>
              </a:rPr>
              <a:t>In the music section, it is necessary to download it, which could be simplified so that</a:t>
            </a:r>
            <a:r>
              <a:rPr lang="en-US" b="true" sz="2899">
                <a:solidFill>
                  <a:srgbClr val="000000"/>
                </a:solidFill>
                <a:latin typeface="Open Sans Bold"/>
                <a:ea typeface="Open Sans Bold"/>
                <a:cs typeface="Open Sans Bold"/>
                <a:sym typeface="Open Sans Bold"/>
              </a:rPr>
              <a:t> it is already included</a:t>
            </a:r>
            <a:r>
              <a:rPr lang="en-US" sz="2899">
                <a:solidFill>
                  <a:srgbClr val="000000"/>
                </a:solidFill>
                <a:latin typeface="Open Sans"/>
                <a:ea typeface="Open Sans"/>
                <a:cs typeface="Open Sans"/>
                <a:sym typeface="Open Sans"/>
              </a:rPr>
              <a:t>. Once the music audio is downloaded, it plays, but </a:t>
            </a:r>
            <a:r>
              <a:rPr lang="en-US" b="true" sz="2899">
                <a:solidFill>
                  <a:srgbClr val="000000"/>
                </a:solidFill>
                <a:latin typeface="Open Sans Bold"/>
                <a:ea typeface="Open Sans Bold"/>
                <a:cs typeface="Open Sans Bold"/>
                <a:sym typeface="Open Sans Bold"/>
              </a:rPr>
              <a:t>the music does not sound </a:t>
            </a:r>
            <a:r>
              <a:rPr lang="en-US" sz="2899">
                <a:solidFill>
                  <a:srgbClr val="000000"/>
                </a:solidFill>
                <a:latin typeface="Open Sans"/>
                <a:ea typeface="Open Sans"/>
                <a:cs typeface="Open Sans"/>
                <a:sym typeface="Open Sans"/>
              </a:rPr>
              <a:t>and ends without anything being heard.</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9902C"/>
        </a:solidFill>
      </p:bgPr>
    </p:bg>
    <p:spTree>
      <p:nvGrpSpPr>
        <p:cNvPr id="1" name=""/>
        <p:cNvGrpSpPr/>
        <p:nvPr/>
      </p:nvGrpSpPr>
      <p:grpSpPr>
        <a:xfrm>
          <a:off x="0" y="0"/>
          <a:ext cx="0" cy="0"/>
          <a:chOff x="0" y="0"/>
          <a:chExt cx="0" cy="0"/>
        </a:xfrm>
      </p:grpSpPr>
      <p:sp>
        <p:nvSpPr>
          <p:cNvPr name="Freeform 2" id="2"/>
          <p:cNvSpPr/>
          <p:nvPr/>
        </p:nvSpPr>
        <p:spPr>
          <a:xfrm flipH="false" flipV="false" rot="0">
            <a:off x="0" y="1028700"/>
            <a:ext cx="18677072" cy="6029826"/>
          </a:xfrm>
          <a:custGeom>
            <a:avLst/>
            <a:gdLst/>
            <a:ahLst/>
            <a:cxnLst/>
            <a:rect r="r" b="b" t="t" l="l"/>
            <a:pathLst>
              <a:path h="6029826" w="18677072">
                <a:moveTo>
                  <a:pt x="0" y="0"/>
                </a:moveTo>
                <a:lnTo>
                  <a:pt x="18677072" y="0"/>
                </a:lnTo>
                <a:lnTo>
                  <a:pt x="18677072" y="6029826"/>
                </a:lnTo>
                <a:lnTo>
                  <a:pt x="0" y="6029826"/>
                </a:lnTo>
                <a:lnTo>
                  <a:pt x="0" y="0"/>
                </a:lnTo>
                <a:close/>
              </a:path>
            </a:pathLst>
          </a:custGeom>
          <a:blipFill>
            <a:blip r:embed="rId2"/>
            <a:stretch>
              <a:fillRect l="0" t="0" r="0" b="0"/>
            </a:stretch>
          </a:blipFill>
        </p:spPr>
      </p:sp>
      <p:grpSp>
        <p:nvGrpSpPr>
          <p:cNvPr name="Group 3" id="3"/>
          <p:cNvGrpSpPr/>
          <p:nvPr/>
        </p:nvGrpSpPr>
        <p:grpSpPr>
          <a:xfrm rot="0">
            <a:off x="4165089" y="6037271"/>
            <a:ext cx="12449207" cy="3221029"/>
            <a:chOff x="0" y="0"/>
            <a:chExt cx="1942995" cy="502718"/>
          </a:xfrm>
        </p:grpSpPr>
        <p:sp>
          <p:nvSpPr>
            <p:cNvPr name="Freeform 4" id="4"/>
            <p:cNvSpPr/>
            <p:nvPr/>
          </p:nvSpPr>
          <p:spPr>
            <a:xfrm flipH="false" flipV="false" rot="0">
              <a:off x="0" y="0"/>
              <a:ext cx="1942995" cy="502718"/>
            </a:xfrm>
            <a:custGeom>
              <a:avLst/>
              <a:gdLst/>
              <a:ahLst/>
              <a:cxnLst/>
              <a:rect r="r" b="b" t="t" l="l"/>
              <a:pathLst>
                <a:path h="502718" w="1942995">
                  <a:moveTo>
                    <a:pt x="29228" y="0"/>
                  </a:moveTo>
                  <a:lnTo>
                    <a:pt x="1913766" y="0"/>
                  </a:lnTo>
                  <a:cubicBezTo>
                    <a:pt x="1921518" y="0"/>
                    <a:pt x="1928952" y="3079"/>
                    <a:pt x="1934434" y="8561"/>
                  </a:cubicBezTo>
                  <a:cubicBezTo>
                    <a:pt x="1939915" y="14042"/>
                    <a:pt x="1942995" y="21477"/>
                    <a:pt x="1942995" y="29228"/>
                  </a:cubicBezTo>
                  <a:lnTo>
                    <a:pt x="1942995" y="473490"/>
                  </a:lnTo>
                  <a:cubicBezTo>
                    <a:pt x="1942995" y="481242"/>
                    <a:pt x="1939915" y="488676"/>
                    <a:pt x="1934434" y="494157"/>
                  </a:cubicBezTo>
                  <a:cubicBezTo>
                    <a:pt x="1928952" y="499639"/>
                    <a:pt x="1921518" y="502718"/>
                    <a:pt x="1913766" y="502718"/>
                  </a:cubicBezTo>
                  <a:lnTo>
                    <a:pt x="29228" y="502718"/>
                  </a:lnTo>
                  <a:cubicBezTo>
                    <a:pt x="21477" y="502718"/>
                    <a:pt x="14042" y="499639"/>
                    <a:pt x="8561" y="494157"/>
                  </a:cubicBezTo>
                  <a:cubicBezTo>
                    <a:pt x="3079" y="488676"/>
                    <a:pt x="0" y="481242"/>
                    <a:pt x="0" y="473490"/>
                  </a:cubicBezTo>
                  <a:lnTo>
                    <a:pt x="0" y="29228"/>
                  </a:lnTo>
                  <a:cubicBezTo>
                    <a:pt x="0" y="21477"/>
                    <a:pt x="3079" y="14042"/>
                    <a:pt x="8561" y="8561"/>
                  </a:cubicBezTo>
                  <a:cubicBezTo>
                    <a:pt x="14042" y="3079"/>
                    <a:pt x="21477" y="0"/>
                    <a:pt x="29228" y="0"/>
                  </a:cubicBezTo>
                  <a:close/>
                </a:path>
              </a:pathLst>
            </a:custGeom>
            <a:solidFill>
              <a:srgbClr val="EBB665"/>
            </a:solidFill>
          </p:spPr>
        </p:sp>
        <p:sp>
          <p:nvSpPr>
            <p:cNvPr name="TextBox 5" id="5"/>
            <p:cNvSpPr txBox="true"/>
            <p:nvPr/>
          </p:nvSpPr>
          <p:spPr>
            <a:xfrm>
              <a:off x="0" y="-57150"/>
              <a:ext cx="1942995" cy="559868"/>
            </a:xfrm>
            <a:prstGeom prst="rect">
              <a:avLst/>
            </a:prstGeom>
          </p:spPr>
          <p:txBody>
            <a:bodyPr anchor="ctr" rtlCol="false" tIns="50800" lIns="50800" bIns="50800" rIns="50800"/>
            <a:lstStyle/>
            <a:p>
              <a:pPr algn="ctr">
                <a:lnSpc>
                  <a:spcPts val="3779"/>
                </a:lnSpc>
                <a:spcBef>
                  <a:spcPct val="0"/>
                </a:spcBef>
              </a:pPr>
              <a:r>
                <a:rPr lang="en-US" sz="2699">
                  <a:solidFill>
                    <a:srgbClr val="000000"/>
                  </a:solidFill>
                  <a:latin typeface="Open Sans"/>
                  <a:ea typeface="Open Sans"/>
                  <a:cs typeface="Open Sans"/>
                  <a:sym typeface="Open Sans"/>
                </a:rPr>
                <a:t>In the motivation section, under “motivational talk,” if you select the type of talk you want, </a:t>
              </a:r>
              <a:r>
                <a:rPr lang="en-US" b="true" sz="2699">
                  <a:solidFill>
                    <a:srgbClr val="000000"/>
                  </a:solidFill>
                  <a:latin typeface="Open Sans Bold"/>
                  <a:ea typeface="Open Sans Bold"/>
                  <a:cs typeface="Open Sans Bold"/>
                  <a:sym typeface="Open Sans Bold"/>
                </a:rPr>
                <a:t>it doesn't provide it</a:t>
              </a:r>
              <a:r>
                <a:rPr lang="en-US" sz="2699">
                  <a:solidFill>
                    <a:srgbClr val="000000"/>
                  </a:solidFill>
                  <a:latin typeface="Open Sans"/>
                  <a:ea typeface="Open Sans"/>
                  <a:cs typeface="Open Sans"/>
                  <a:sym typeface="Open Sans"/>
                </a:rPr>
                <a:t>, it just gives you an inspirational quote. This inspirational quote could also be added at the beginning and end of the day, or after each concentration session or at the end of a routine, to make users feel satisfied.</a:t>
              </a:r>
            </a:p>
          </p:txBody>
        </p:sp>
      </p:grpSp>
      <p:grpSp>
        <p:nvGrpSpPr>
          <p:cNvPr name="Group 6" id="6"/>
          <p:cNvGrpSpPr/>
          <p:nvPr/>
        </p:nvGrpSpPr>
        <p:grpSpPr>
          <a:xfrm rot="0">
            <a:off x="3827852" y="2075403"/>
            <a:ext cx="13123682" cy="3307925"/>
            <a:chOff x="0" y="0"/>
            <a:chExt cx="3456443" cy="871223"/>
          </a:xfrm>
        </p:grpSpPr>
        <p:sp>
          <p:nvSpPr>
            <p:cNvPr name="Freeform 7" id="7"/>
            <p:cNvSpPr/>
            <p:nvPr/>
          </p:nvSpPr>
          <p:spPr>
            <a:xfrm flipH="false" flipV="false" rot="0">
              <a:off x="0" y="0"/>
              <a:ext cx="3456443" cy="871223"/>
            </a:xfrm>
            <a:custGeom>
              <a:avLst/>
              <a:gdLst/>
              <a:ahLst/>
              <a:cxnLst/>
              <a:rect r="r" b="b" t="t" l="l"/>
              <a:pathLst>
                <a:path h="871223" w="3456443">
                  <a:moveTo>
                    <a:pt x="1728221" y="0"/>
                  </a:moveTo>
                  <a:cubicBezTo>
                    <a:pt x="773751" y="0"/>
                    <a:pt x="0" y="195030"/>
                    <a:pt x="0" y="435612"/>
                  </a:cubicBezTo>
                  <a:cubicBezTo>
                    <a:pt x="0" y="676193"/>
                    <a:pt x="773751" y="871223"/>
                    <a:pt x="1728221" y="871223"/>
                  </a:cubicBezTo>
                  <a:cubicBezTo>
                    <a:pt x="2682692" y="871223"/>
                    <a:pt x="3456443" y="676193"/>
                    <a:pt x="3456443" y="435612"/>
                  </a:cubicBezTo>
                  <a:cubicBezTo>
                    <a:pt x="3456443" y="195030"/>
                    <a:pt x="2682692" y="0"/>
                    <a:pt x="1728221" y="0"/>
                  </a:cubicBezTo>
                  <a:close/>
                </a:path>
              </a:pathLst>
            </a:custGeom>
            <a:ln w="38100" cap="sq">
              <a:solidFill>
                <a:srgbClr val="000000"/>
              </a:solidFill>
              <a:prstDash val="solid"/>
              <a:miter/>
            </a:ln>
          </p:spPr>
        </p:sp>
        <p:sp>
          <p:nvSpPr>
            <p:cNvPr name="TextBox 8" id="8"/>
            <p:cNvSpPr txBox="true"/>
            <p:nvPr/>
          </p:nvSpPr>
          <p:spPr>
            <a:xfrm>
              <a:off x="324042" y="43577"/>
              <a:ext cx="2808360" cy="745969"/>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9902C"/>
        </a:solidFill>
      </p:bgPr>
    </p:bg>
    <p:spTree>
      <p:nvGrpSpPr>
        <p:cNvPr id="1" name=""/>
        <p:cNvGrpSpPr/>
        <p:nvPr/>
      </p:nvGrpSpPr>
      <p:grpSpPr>
        <a:xfrm>
          <a:off x="0" y="0"/>
          <a:ext cx="0" cy="0"/>
          <a:chOff x="0" y="0"/>
          <a:chExt cx="0" cy="0"/>
        </a:xfrm>
      </p:grpSpPr>
      <p:sp>
        <p:nvSpPr>
          <p:cNvPr name="Freeform 2" id="2"/>
          <p:cNvSpPr/>
          <p:nvPr/>
        </p:nvSpPr>
        <p:spPr>
          <a:xfrm flipH="false" flipV="false" rot="0">
            <a:off x="351116" y="364874"/>
            <a:ext cx="12624079" cy="6659273"/>
          </a:xfrm>
          <a:custGeom>
            <a:avLst/>
            <a:gdLst/>
            <a:ahLst/>
            <a:cxnLst/>
            <a:rect r="r" b="b" t="t" l="l"/>
            <a:pathLst>
              <a:path h="6659273" w="12624079">
                <a:moveTo>
                  <a:pt x="0" y="0"/>
                </a:moveTo>
                <a:lnTo>
                  <a:pt x="12624078" y="0"/>
                </a:lnTo>
                <a:lnTo>
                  <a:pt x="12624078" y="6659273"/>
                </a:lnTo>
                <a:lnTo>
                  <a:pt x="0" y="6659273"/>
                </a:lnTo>
                <a:lnTo>
                  <a:pt x="0" y="0"/>
                </a:lnTo>
                <a:close/>
              </a:path>
            </a:pathLst>
          </a:custGeom>
          <a:blipFill>
            <a:blip r:embed="rId2"/>
            <a:stretch>
              <a:fillRect l="0" t="0" r="0" b="0"/>
            </a:stretch>
          </a:blipFill>
        </p:spPr>
      </p:sp>
      <p:sp>
        <p:nvSpPr>
          <p:cNvPr name="Freeform 3" id="3"/>
          <p:cNvSpPr/>
          <p:nvPr/>
        </p:nvSpPr>
        <p:spPr>
          <a:xfrm flipH="false" flipV="false" rot="0">
            <a:off x="10793709" y="3273992"/>
            <a:ext cx="7156130" cy="7013008"/>
          </a:xfrm>
          <a:custGeom>
            <a:avLst/>
            <a:gdLst/>
            <a:ahLst/>
            <a:cxnLst/>
            <a:rect r="r" b="b" t="t" l="l"/>
            <a:pathLst>
              <a:path h="7013008" w="7156130">
                <a:moveTo>
                  <a:pt x="0" y="0"/>
                </a:moveTo>
                <a:lnTo>
                  <a:pt x="7156130" y="0"/>
                </a:lnTo>
                <a:lnTo>
                  <a:pt x="7156130" y="7013008"/>
                </a:lnTo>
                <a:lnTo>
                  <a:pt x="0" y="70130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1212906" y="3646886"/>
            <a:ext cx="5892713" cy="6118525"/>
          </a:xfrm>
          <a:prstGeom prst="rect">
            <a:avLst/>
          </a:prstGeom>
        </p:spPr>
        <p:txBody>
          <a:bodyPr anchor="t" rtlCol="false" tIns="0" lIns="0" bIns="0" rIns="0">
            <a:spAutoFit/>
          </a:bodyPr>
          <a:lstStyle/>
          <a:p>
            <a:pPr algn="ctr">
              <a:lnSpc>
                <a:spcPts val="3483"/>
              </a:lnSpc>
              <a:spcBef>
                <a:spcPct val="0"/>
              </a:spcBef>
            </a:pPr>
            <a:r>
              <a:rPr lang="en-US" sz="2488">
                <a:solidFill>
                  <a:srgbClr val="000000"/>
                </a:solidFill>
                <a:latin typeface="Open Sans"/>
                <a:ea typeface="Open Sans"/>
                <a:cs typeface="Open Sans"/>
                <a:sym typeface="Open Sans"/>
              </a:rPr>
              <a:t>The leaderboard is a good idea for keeping users competitive, but </a:t>
            </a:r>
            <a:r>
              <a:rPr lang="en-US" b="true" sz="2488">
                <a:solidFill>
                  <a:srgbClr val="000000"/>
                </a:solidFill>
                <a:latin typeface="Open Sans Bold"/>
                <a:ea typeface="Open Sans Bold"/>
                <a:cs typeface="Open Sans Bold"/>
                <a:sym typeface="Open Sans Bold"/>
              </a:rPr>
              <a:t>it can cause stress for some</a:t>
            </a:r>
            <a:r>
              <a:rPr lang="en-US" sz="2488">
                <a:solidFill>
                  <a:srgbClr val="000000"/>
                </a:solidFill>
                <a:latin typeface="Open Sans"/>
                <a:ea typeface="Open Sans"/>
                <a:cs typeface="Open Sans"/>
                <a:sym typeface="Open Sans"/>
              </a:rPr>
              <a:t>, </a:t>
            </a:r>
            <a:r>
              <a:rPr lang="en-US" b="true" sz="2488">
                <a:solidFill>
                  <a:srgbClr val="000000"/>
                </a:solidFill>
                <a:latin typeface="Open Sans Bold"/>
                <a:ea typeface="Open Sans Bold"/>
                <a:cs typeface="Open Sans Bold"/>
                <a:sym typeface="Open Sans Bold"/>
              </a:rPr>
              <a:t>as many neurodivergent people become demotivated when they are not in the position they want to be in</a:t>
            </a:r>
            <a:r>
              <a:rPr lang="en-US" sz="2488">
                <a:solidFill>
                  <a:srgbClr val="000000"/>
                </a:solidFill>
                <a:latin typeface="Open Sans"/>
                <a:ea typeface="Open Sans"/>
                <a:cs typeface="Open Sans"/>
                <a:sym typeface="Open Sans"/>
              </a:rPr>
              <a:t>. Therefore, it should </a:t>
            </a:r>
            <a:r>
              <a:rPr lang="en-US" b="true" sz="2488">
                <a:solidFill>
                  <a:srgbClr val="000000"/>
                </a:solidFill>
                <a:latin typeface="Open Sans Bold"/>
                <a:ea typeface="Open Sans Bold"/>
                <a:cs typeface="Open Sans Bold"/>
                <a:sym typeface="Open Sans Bold"/>
              </a:rPr>
              <a:t>be optional </a:t>
            </a:r>
            <a:r>
              <a:rPr lang="en-US" sz="2488">
                <a:solidFill>
                  <a:srgbClr val="000000"/>
                </a:solidFill>
                <a:latin typeface="Open Sans"/>
                <a:ea typeface="Open Sans"/>
                <a:cs typeface="Open Sans"/>
                <a:sym typeface="Open Sans"/>
              </a:rPr>
              <a:t>to be part of this section or not.</a:t>
            </a:r>
          </a:p>
          <a:p>
            <a:pPr algn="ctr">
              <a:lnSpc>
                <a:spcPts val="3483"/>
              </a:lnSpc>
              <a:spcBef>
                <a:spcPct val="0"/>
              </a:spcBef>
            </a:pPr>
          </a:p>
          <a:p>
            <a:pPr algn="ctr">
              <a:lnSpc>
                <a:spcPts val="3483"/>
              </a:lnSpc>
              <a:spcBef>
                <a:spcPct val="0"/>
              </a:spcBef>
            </a:pPr>
            <a:r>
              <a:rPr lang="en-US" sz="2488">
                <a:solidFill>
                  <a:srgbClr val="000000"/>
                </a:solidFill>
                <a:latin typeface="Open Sans"/>
                <a:ea typeface="Open Sans"/>
                <a:cs typeface="Open Sans"/>
                <a:sym typeface="Open Sans"/>
              </a:rPr>
              <a:t>Similarly, it should be made more attractive with </a:t>
            </a:r>
            <a:r>
              <a:rPr lang="en-US" b="true" sz="2488">
                <a:solidFill>
                  <a:srgbClr val="000000"/>
                </a:solidFill>
                <a:latin typeface="Open Sans Bold"/>
                <a:ea typeface="Open Sans Bold"/>
                <a:cs typeface="Open Sans Bold"/>
                <a:sym typeface="Open Sans Bold"/>
              </a:rPr>
              <a:t>real-time updates of the tasks completed</a:t>
            </a:r>
            <a:r>
              <a:rPr lang="en-US" sz="2488">
                <a:solidFill>
                  <a:srgbClr val="000000"/>
                </a:solidFill>
                <a:latin typeface="Open Sans"/>
                <a:ea typeface="Open Sans"/>
                <a:cs typeface="Open Sans"/>
                <a:sym typeface="Open Sans"/>
              </a:rPr>
              <a:t> by each user and some kind of </a:t>
            </a:r>
            <a:r>
              <a:rPr lang="en-US" b="true" sz="2488">
                <a:solidFill>
                  <a:srgbClr val="000000"/>
                </a:solidFill>
                <a:latin typeface="Open Sans Bold"/>
                <a:ea typeface="Open Sans Bold"/>
                <a:cs typeface="Open Sans Bold"/>
                <a:sym typeface="Open Sans Bold"/>
              </a:rPr>
              <a:t>badge</a:t>
            </a:r>
            <a:r>
              <a:rPr lang="en-US" sz="2488">
                <a:solidFill>
                  <a:srgbClr val="000000"/>
                </a:solidFill>
                <a:latin typeface="Open Sans"/>
                <a:ea typeface="Open Sans"/>
                <a:cs typeface="Open Sans"/>
                <a:sym typeface="Open Sans"/>
              </a:rPr>
              <a:t> or </a:t>
            </a:r>
            <a:r>
              <a:rPr lang="en-US" b="true" sz="2488">
                <a:solidFill>
                  <a:srgbClr val="000000"/>
                </a:solidFill>
                <a:latin typeface="Open Sans Bold"/>
                <a:ea typeface="Open Sans Bold"/>
                <a:cs typeface="Open Sans Bold"/>
                <a:sym typeface="Open Sans Bold"/>
              </a:rPr>
              <a:t>recognition</a:t>
            </a:r>
            <a:r>
              <a:rPr lang="en-US" sz="2488">
                <a:solidFill>
                  <a:srgbClr val="000000"/>
                </a:solidFill>
                <a:latin typeface="Open Sans"/>
                <a:ea typeface="Open Sans"/>
                <a:cs typeface="Open Sans"/>
                <a:sym typeface="Open Sans"/>
              </a:rPr>
              <a:t> for the level each person reaches.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9902C"/>
        </a:solidFill>
      </p:bgPr>
    </p:bg>
    <p:spTree>
      <p:nvGrpSpPr>
        <p:cNvPr id="1" name=""/>
        <p:cNvGrpSpPr/>
        <p:nvPr/>
      </p:nvGrpSpPr>
      <p:grpSpPr>
        <a:xfrm>
          <a:off x="0" y="0"/>
          <a:ext cx="0" cy="0"/>
          <a:chOff x="0" y="0"/>
          <a:chExt cx="0" cy="0"/>
        </a:xfrm>
      </p:grpSpPr>
      <p:sp>
        <p:nvSpPr>
          <p:cNvPr name="Freeform 2" id="2"/>
          <p:cNvSpPr/>
          <p:nvPr/>
        </p:nvSpPr>
        <p:spPr>
          <a:xfrm flipH="false" flipV="false" rot="0">
            <a:off x="669578" y="228218"/>
            <a:ext cx="11958362" cy="7390549"/>
          </a:xfrm>
          <a:custGeom>
            <a:avLst/>
            <a:gdLst/>
            <a:ahLst/>
            <a:cxnLst/>
            <a:rect r="r" b="b" t="t" l="l"/>
            <a:pathLst>
              <a:path h="7390549" w="11958362">
                <a:moveTo>
                  <a:pt x="0" y="0"/>
                </a:moveTo>
                <a:lnTo>
                  <a:pt x="11958362" y="0"/>
                </a:lnTo>
                <a:lnTo>
                  <a:pt x="11958362" y="7390548"/>
                </a:lnTo>
                <a:lnTo>
                  <a:pt x="0" y="7390548"/>
                </a:lnTo>
                <a:lnTo>
                  <a:pt x="0" y="0"/>
                </a:lnTo>
                <a:close/>
              </a:path>
            </a:pathLst>
          </a:custGeom>
          <a:blipFill>
            <a:blip r:embed="rId2"/>
            <a:stretch>
              <a:fillRect l="0" t="0" r="0" b="-6088"/>
            </a:stretch>
          </a:blipFill>
        </p:spPr>
      </p:sp>
      <p:sp>
        <p:nvSpPr>
          <p:cNvPr name="Freeform 3" id="3"/>
          <p:cNvSpPr/>
          <p:nvPr/>
        </p:nvSpPr>
        <p:spPr>
          <a:xfrm flipH="false" flipV="false" rot="0">
            <a:off x="11799155" y="2546017"/>
            <a:ext cx="6354201" cy="6227117"/>
          </a:xfrm>
          <a:custGeom>
            <a:avLst/>
            <a:gdLst/>
            <a:ahLst/>
            <a:cxnLst/>
            <a:rect r="r" b="b" t="t" l="l"/>
            <a:pathLst>
              <a:path h="6227117" w="6354201">
                <a:moveTo>
                  <a:pt x="0" y="0"/>
                </a:moveTo>
                <a:lnTo>
                  <a:pt x="6354201" y="0"/>
                </a:lnTo>
                <a:lnTo>
                  <a:pt x="6354201" y="6227117"/>
                </a:lnTo>
                <a:lnTo>
                  <a:pt x="0" y="62271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5356428" y="2382975"/>
            <a:ext cx="5568024" cy="2158076"/>
            <a:chOff x="0" y="0"/>
            <a:chExt cx="1466475" cy="568382"/>
          </a:xfrm>
        </p:grpSpPr>
        <p:sp>
          <p:nvSpPr>
            <p:cNvPr name="Freeform 5" id="5"/>
            <p:cNvSpPr/>
            <p:nvPr/>
          </p:nvSpPr>
          <p:spPr>
            <a:xfrm flipH="false" flipV="false" rot="0">
              <a:off x="0" y="0"/>
              <a:ext cx="1466475" cy="568382"/>
            </a:xfrm>
            <a:custGeom>
              <a:avLst/>
              <a:gdLst/>
              <a:ahLst/>
              <a:cxnLst/>
              <a:rect r="r" b="b" t="t" l="l"/>
              <a:pathLst>
                <a:path h="568382" w="1466475">
                  <a:moveTo>
                    <a:pt x="733238" y="0"/>
                  </a:moveTo>
                  <a:cubicBezTo>
                    <a:pt x="328282" y="0"/>
                    <a:pt x="0" y="127237"/>
                    <a:pt x="0" y="284191"/>
                  </a:cubicBezTo>
                  <a:cubicBezTo>
                    <a:pt x="0" y="441146"/>
                    <a:pt x="328282" y="568382"/>
                    <a:pt x="733238" y="568382"/>
                  </a:cubicBezTo>
                  <a:cubicBezTo>
                    <a:pt x="1138194" y="568382"/>
                    <a:pt x="1466475" y="441146"/>
                    <a:pt x="1466475" y="284191"/>
                  </a:cubicBezTo>
                  <a:cubicBezTo>
                    <a:pt x="1466475" y="127237"/>
                    <a:pt x="1138194" y="0"/>
                    <a:pt x="733238" y="0"/>
                  </a:cubicBezTo>
                  <a:close/>
                </a:path>
              </a:pathLst>
            </a:custGeom>
            <a:ln w="38100" cap="sq">
              <a:solidFill>
                <a:srgbClr val="000000"/>
              </a:solidFill>
              <a:prstDash val="solid"/>
              <a:miter/>
            </a:ln>
          </p:spPr>
        </p:sp>
        <p:sp>
          <p:nvSpPr>
            <p:cNvPr name="TextBox 6" id="6"/>
            <p:cNvSpPr txBox="true"/>
            <p:nvPr/>
          </p:nvSpPr>
          <p:spPr>
            <a:xfrm>
              <a:off x="137482" y="15186"/>
              <a:ext cx="1191511" cy="499911"/>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9358849" y="1435046"/>
            <a:ext cx="1565603" cy="606802"/>
            <a:chOff x="0" y="0"/>
            <a:chExt cx="1466475" cy="568382"/>
          </a:xfrm>
        </p:grpSpPr>
        <p:sp>
          <p:nvSpPr>
            <p:cNvPr name="Freeform 8" id="8"/>
            <p:cNvSpPr/>
            <p:nvPr/>
          </p:nvSpPr>
          <p:spPr>
            <a:xfrm flipH="false" flipV="false" rot="0">
              <a:off x="0" y="0"/>
              <a:ext cx="1466475" cy="568382"/>
            </a:xfrm>
            <a:custGeom>
              <a:avLst/>
              <a:gdLst/>
              <a:ahLst/>
              <a:cxnLst/>
              <a:rect r="r" b="b" t="t" l="l"/>
              <a:pathLst>
                <a:path h="568382" w="1466475">
                  <a:moveTo>
                    <a:pt x="733238" y="0"/>
                  </a:moveTo>
                  <a:cubicBezTo>
                    <a:pt x="328282" y="0"/>
                    <a:pt x="0" y="127237"/>
                    <a:pt x="0" y="284191"/>
                  </a:cubicBezTo>
                  <a:cubicBezTo>
                    <a:pt x="0" y="441146"/>
                    <a:pt x="328282" y="568382"/>
                    <a:pt x="733238" y="568382"/>
                  </a:cubicBezTo>
                  <a:cubicBezTo>
                    <a:pt x="1138194" y="568382"/>
                    <a:pt x="1466475" y="441146"/>
                    <a:pt x="1466475" y="284191"/>
                  </a:cubicBezTo>
                  <a:cubicBezTo>
                    <a:pt x="1466475" y="127237"/>
                    <a:pt x="1138194" y="0"/>
                    <a:pt x="733238" y="0"/>
                  </a:cubicBezTo>
                  <a:close/>
                </a:path>
              </a:pathLst>
            </a:custGeom>
            <a:ln w="38100" cap="sq">
              <a:solidFill>
                <a:srgbClr val="000000"/>
              </a:solidFill>
              <a:prstDash val="solid"/>
              <a:miter/>
            </a:ln>
          </p:spPr>
        </p:sp>
        <p:sp>
          <p:nvSpPr>
            <p:cNvPr name="TextBox 9" id="9"/>
            <p:cNvSpPr txBox="true"/>
            <p:nvPr/>
          </p:nvSpPr>
          <p:spPr>
            <a:xfrm>
              <a:off x="137482" y="15186"/>
              <a:ext cx="1191511" cy="499911"/>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1362592" y="1034387"/>
            <a:ext cx="3086100" cy="801319"/>
            <a:chOff x="0" y="0"/>
            <a:chExt cx="481659" cy="125065"/>
          </a:xfrm>
        </p:grpSpPr>
        <p:sp>
          <p:nvSpPr>
            <p:cNvPr name="Freeform 11" id="11"/>
            <p:cNvSpPr/>
            <p:nvPr/>
          </p:nvSpPr>
          <p:spPr>
            <a:xfrm flipH="false" flipV="false" rot="0">
              <a:off x="0" y="0"/>
              <a:ext cx="481659" cy="125065"/>
            </a:xfrm>
            <a:custGeom>
              <a:avLst/>
              <a:gdLst/>
              <a:ahLst/>
              <a:cxnLst/>
              <a:rect r="r" b="b" t="t" l="l"/>
              <a:pathLst>
                <a:path h="125065" w="481659">
                  <a:moveTo>
                    <a:pt x="62532" y="0"/>
                  </a:moveTo>
                  <a:lnTo>
                    <a:pt x="419127" y="0"/>
                  </a:lnTo>
                  <a:cubicBezTo>
                    <a:pt x="453663" y="0"/>
                    <a:pt x="481659" y="27997"/>
                    <a:pt x="481659" y="62532"/>
                  </a:cubicBezTo>
                  <a:lnTo>
                    <a:pt x="481659" y="62532"/>
                  </a:lnTo>
                  <a:cubicBezTo>
                    <a:pt x="481659" y="97068"/>
                    <a:pt x="453663" y="125065"/>
                    <a:pt x="419127" y="125065"/>
                  </a:cubicBezTo>
                  <a:lnTo>
                    <a:pt x="62532" y="125065"/>
                  </a:lnTo>
                  <a:cubicBezTo>
                    <a:pt x="27997" y="125065"/>
                    <a:pt x="0" y="97068"/>
                    <a:pt x="0" y="62532"/>
                  </a:cubicBezTo>
                  <a:lnTo>
                    <a:pt x="0" y="62532"/>
                  </a:lnTo>
                  <a:cubicBezTo>
                    <a:pt x="0" y="27997"/>
                    <a:pt x="27997" y="0"/>
                    <a:pt x="62532" y="0"/>
                  </a:cubicBezTo>
                  <a:close/>
                </a:path>
              </a:pathLst>
            </a:custGeom>
            <a:solidFill>
              <a:srgbClr val="EBB665"/>
            </a:solidFill>
          </p:spPr>
        </p:sp>
        <p:sp>
          <p:nvSpPr>
            <p:cNvPr name="TextBox 12" id="12"/>
            <p:cNvSpPr txBox="true"/>
            <p:nvPr/>
          </p:nvSpPr>
          <p:spPr>
            <a:xfrm>
              <a:off x="0" y="-38100"/>
              <a:ext cx="481659" cy="163165"/>
            </a:xfrm>
            <a:prstGeom prst="rect">
              <a:avLst/>
            </a:prstGeom>
          </p:spPr>
          <p:txBody>
            <a:bodyPr anchor="ctr" rtlCol="false" tIns="50800" lIns="50800" bIns="50800" rIns="50800"/>
            <a:lstStyle/>
            <a:p>
              <a:pPr algn="ctr">
                <a:lnSpc>
                  <a:spcPts val="2659"/>
                </a:lnSpc>
              </a:pPr>
              <a:r>
                <a:rPr lang="en-US" sz="1899">
                  <a:solidFill>
                    <a:srgbClr val="000000"/>
                  </a:solidFill>
                  <a:latin typeface="Open Sans"/>
                  <a:ea typeface="Open Sans"/>
                  <a:cs typeface="Open Sans"/>
                  <a:sym typeface="Open Sans"/>
                </a:rPr>
                <a:t>The help buttons are not responding.</a:t>
              </a:r>
            </a:p>
          </p:txBody>
        </p:sp>
      </p:grpSp>
      <p:sp>
        <p:nvSpPr>
          <p:cNvPr name="TextBox 13" id="13"/>
          <p:cNvSpPr txBox="true"/>
          <p:nvPr/>
        </p:nvSpPr>
        <p:spPr>
          <a:xfrm rot="0">
            <a:off x="12234332" y="2849795"/>
            <a:ext cx="5215934" cy="5581462"/>
          </a:xfrm>
          <a:prstGeom prst="rect">
            <a:avLst/>
          </a:prstGeom>
        </p:spPr>
        <p:txBody>
          <a:bodyPr anchor="t" rtlCol="false" tIns="0" lIns="0" bIns="0" rIns="0">
            <a:spAutoFit/>
          </a:bodyPr>
          <a:lstStyle/>
          <a:p>
            <a:pPr algn="ctr">
              <a:lnSpc>
                <a:spcPts val="3160"/>
              </a:lnSpc>
              <a:spcBef>
                <a:spcPct val="0"/>
              </a:spcBef>
            </a:pPr>
            <a:r>
              <a:rPr lang="en-US" sz="2257">
                <a:solidFill>
                  <a:srgbClr val="000000"/>
                </a:solidFill>
                <a:latin typeface="Open Sans"/>
                <a:ea typeface="Open Sans"/>
                <a:cs typeface="Open Sans"/>
                <a:sym typeface="Open Sans"/>
              </a:rPr>
              <a:t>In the concentration section, the timer programmer is very complex because </a:t>
            </a:r>
            <a:r>
              <a:rPr lang="en-US" b="true" sz="2257">
                <a:solidFill>
                  <a:srgbClr val="000000"/>
                </a:solidFill>
                <a:latin typeface="Open Sans Bold"/>
                <a:ea typeface="Open Sans Bold"/>
                <a:cs typeface="Open Sans Bold"/>
                <a:sym typeface="Open Sans Bold"/>
              </a:rPr>
              <a:t>it only allows you to set times in minutes</a:t>
            </a:r>
            <a:r>
              <a:rPr lang="en-US" sz="2257">
                <a:solidFill>
                  <a:srgbClr val="000000"/>
                </a:solidFill>
                <a:latin typeface="Open Sans"/>
                <a:ea typeface="Open Sans"/>
                <a:cs typeface="Open Sans"/>
                <a:sym typeface="Open Sans"/>
              </a:rPr>
              <a:t>. An improvement could be to </a:t>
            </a:r>
            <a:r>
              <a:rPr lang="en-US" b="true" sz="2257">
                <a:solidFill>
                  <a:srgbClr val="000000"/>
                </a:solidFill>
                <a:latin typeface="Open Sans Bold"/>
                <a:ea typeface="Open Sans Bold"/>
                <a:cs typeface="Open Sans Bold"/>
                <a:sym typeface="Open Sans Bold"/>
              </a:rPr>
              <a:t>set the hour and minutes</a:t>
            </a:r>
            <a:r>
              <a:rPr lang="en-US" sz="2257">
                <a:solidFill>
                  <a:srgbClr val="000000"/>
                </a:solidFill>
                <a:latin typeface="Open Sans"/>
                <a:ea typeface="Open Sans"/>
                <a:cs typeface="Open Sans"/>
                <a:sym typeface="Open Sans"/>
              </a:rPr>
              <a:t> and then have a section to program breaks, so that you can </a:t>
            </a:r>
            <a:r>
              <a:rPr lang="en-US" b="true" sz="2257">
                <a:solidFill>
                  <a:srgbClr val="000000"/>
                </a:solidFill>
                <a:latin typeface="Open Sans Bold"/>
                <a:ea typeface="Open Sans Bold"/>
                <a:cs typeface="Open Sans Bold"/>
                <a:sym typeface="Open Sans Bold"/>
              </a:rPr>
              <a:t>program the desired breaks</a:t>
            </a:r>
            <a:r>
              <a:rPr lang="en-US" sz="2257">
                <a:solidFill>
                  <a:srgbClr val="000000"/>
                </a:solidFill>
                <a:latin typeface="Open Sans"/>
                <a:ea typeface="Open Sans"/>
                <a:cs typeface="Open Sans"/>
                <a:sym typeface="Open Sans"/>
              </a:rPr>
              <a:t>, from</a:t>
            </a:r>
            <a:r>
              <a:rPr lang="en-US" b="true" sz="2257">
                <a:solidFill>
                  <a:srgbClr val="000000"/>
                </a:solidFill>
                <a:latin typeface="Open Sans Bold"/>
                <a:ea typeface="Open Sans Bold"/>
                <a:cs typeface="Open Sans Bold"/>
                <a:sym typeface="Open Sans Bold"/>
              </a:rPr>
              <a:t> 1 to 3</a:t>
            </a:r>
            <a:r>
              <a:rPr lang="en-US" sz="2257">
                <a:solidFill>
                  <a:srgbClr val="000000"/>
                </a:solidFill>
                <a:latin typeface="Open Sans"/>
                <a:ea typeface="Open Sans"/>
                <a:cs typeface="Open Sans"/>
                <a:sym typeface="Open Sans"/>
              </a:rPr>
              <a:t>, depending on what is most convenient according to the time interval of the concentration session.</a:t>
            </a:r>
          </a:p>
          <a:p>
            <a:pPr algn="ctr">
              <a:lnSpc>
                <a:spcPts val="3160"/>
              </a:lnSpc>
              <a:spcBef>
                <a:spcPct val="0"/>
              </a:spcBef>
            </a:pPr>
          </a:p>
          <a:p>
            <a:pPr algn="ctr">
              <a:lnSpc>
                <a:spcPts val="3160"/>
              </a:lnSpc>
              <a:spcBef>
                <a:spcPct val="0"/>
              </a:spcBef>
            </a:pPr>
            <a:r>
              <a:rPr lang="en-US" sz="2257">
                <a:solidFill>
                  <a:srgbClr val="000000"/>
                </a:solidFill>
                <a:latin typeface="Open Sans"/>
                <a:ea typeface="Open Sans"/>
                <a:cs typeface="Open Sans"/>
                <a:sym typeface="Open Sans"/>
              </a:rPr>
              <a:t>Similarly, the programmer could have a more attractive appearance.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9902C"/>
        </a:solidFill>
      </p:bgPr>
    </p:bg>
    <p:spTree>
      <p:nvGrpSpPr>
        <p:cNvPr id="1" name=""/>
        <p:cNvGrpSpPr/>
        <p:nvPr/>
      </p:nvGrpSpPr>
      <p:grpSpPr>
        <a:xfrm>
          <a:off x="0" y="0"/>
          <a:ext cx="0" cy="0"/>
          <a:chOff x="0" y="0"/>
          <a:chExt cx="0" cy="0"/>
        </a:xfrm>
      </p:grpSpPr>
      <p:sp>
        <p:nvSpPr>
          <p:cNvPr name="Freeform 2" id="2"/>
          <p:cNvSpPr/>
          <p:nvPr/>
        </p:nvSpPr>
        <p:spPr>
          <a:xfrm flipH="false" flipV="false" rot="0">
            <a:off x="5556375" y="748135"/>
            <a:ext cx="12441244" cy="6929682"/>
          </a:xfrm>
          <a:custGeom>
            <a:avLst/>
            <a:gdLst/>
            <a:ahLst/>
            <a:cxnLst/>
            <a:rect r="r" b="b" t="t" l="l"/>
            <a:pathLst>
              <a:path h="6929682" w="12441244">
                <a:moveTo>
                  <a:pt x="0" y="0"/>
                </a:moveTo>
                <a:lnTo>
                  <a:pt x="12441244" y="0"/>
                </a:lnTo>
                <a:lnTo>
                  <a:pt x="12441244" y="6929682"/>
                </a:lnTo>
                <a:lnTo>
                  <a:pt x="0" y="6929682"/>
                </a:lnTo>
                <a:lnTo>
                  <a:pt x="0" y="0"/>
                </a:lnTo>
                <a:close/>
              </a:path>
            </a:pathLst>
          </a:custGeom>
          <a:blipFill>
            <a:blip r:embed="rId2"/>
            <a:stretch>
              <a:fillRect l="0" t="0" r="0" b="0"/>
            </a:stretch>
          </a:blipFill>
        </p:spPr>
      </p:sp>
      <p:grpSp>
        <p:nvGrpSpPr>
          <p:cNvPr name="Group 3" id="3"/>
          <p:cNvGrpSpPr/>
          <p:nvPr/>
        </p:nvGrpSpPr>
        <p:grpSpPr>
          <a:xfrm rot="0">
            <a:off x="8971462" y="1690507"/>
            <a:ext cx="7683054" cy="3086100"/>
            <a:chOff x="0" y="0"/>
            <a:chExt cx="2023520" cy="812800"/>
          </a:xfrm>
        </p:grpSpPr>
        <p:sp>
          <p:nvSpPr>
            <p:cNvPr name="Freeform 4" id="4"/>
            <p:cNvSpPr/>
            <p:nvPr/>
          </p:nvSpPr>
          <p:spPr>
            <a:xfrm flipH="false" flipV="false" rot="0">
              <a:off x="0" y="0"/>
              <a:ext cx="2023520" cy="812800"/>
            </a:xfrm>
            <a:custGeom>
              <a:avLst/>
              <a:gdLst/>
              <a:ahLst/>
              <a:cxnLst/>
              <a:rect r="r" b="b" t="t" l="l"/>
              <a:pathLst>
                <a:path h="812800" w="2023520">
                  <a:moveTo>
                    <a:pt x="1011760" y="0"/>
                  </a:moveTo>
                  <a:cubicBezTo>
                    <a:pt x="452980" y="0"/>
                    <a:pt x="0" y="181951"/>
                    <a:pt x="0" y="406400"/>
                  </a:cubicBezTo>
                  <a:cubicBezTo>
                    <a:pt x="0" y="630849"/>
                    <a:pt x="452980" y="812800"/>
                    <a:pt x="1011760" y="812800"/>
                  </a:cubicBezTo>
                  <a:cubicBezTo>
                    <a:pt x="1570540" y="812800"/>
                    <a:pt x="2023520" y="630849"/>
                    <a:pt x="2023520" y="406400"/>
                  </a:cubicBezTo>
                  <a:cubicBezTo>
                    <a:pt x="2023520" y="181951"/>
                    <a:pt x="1570540" y="0"/>
                    <a:pt x="1011760" y="0"/>
                  </a:cubicBezTo>
                  <a:close/>
                </a:path>
              </a:pathLst>
            </a:custGeom>
            <a:ln w="38100" cap="sq">
              <a:solidFill>
                <a:srgbClr val="000000"/>
              </a:solidFill>
              <a:prstDash val="solid"/>
              <a:miter/>
            </a:ln>
          </p:spPr>
        </p:sp>
        <p:sp>
          <p:nvSpPr>
            <p:cNvPr name="TextBox 5" id="5"/>
            <p:cNvSpPr txBox="true"/>
            <p:nvPr/>
          </p:nvSpPr>
          <p:spPr>
            <a:xfrm>
              <a:off x="189705" y="38100"/>
              <a:ext cx="1644110" cy="69850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265832" y="4212976"/>
            <a:ext cx="5785478" cy="5669769"/>
          </a:xfrm>
          <a:custGeom>
            <a:avLst/>
            <a:gdLst/>
            <a:ahLst/>
            <a:cxnLst/>
            <a:rect r="r" b="b" t="t" l="l"/>
            <a:pathLst>
              <a:path h="5669769" w="5785478">
                <a:moveTo>
                  <a:pt x="0" y="0"/>
                </a:moveTo>
                <a:lnTo>
                  <a:pt x="5785478" y="0"/>
                </a:lnTo>
                <a:lnTo>
                  <a:pt x="5785478" y="5669769"/>
                </a:lnTo>
                <a:lnTo>
                  <a:pt x="0" y="56697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10361338">
            <a:off x="7493848" y="5703208"/>
            <a:ext cx="4959784" cy="3092668"/>
          </a:xfrm>
          <a:custGeom>
            <a:avLst/>
            <a:gdLst/>
            <a:ahLst/>
            <a:cxnLst/>
            <a:rect r="r" b="b" t="t" l="l"/>
            <a:pathLst>
              <a:path h="3092668" w="4959784">
                <a:moveTo>
                  <a:pt x="0" y="0"/>
                </a:moveTo>
                <a:lnTo>
                  <a:pt x="4959784" y="0"/>
                </a:lnTo>
                <a:lnTo>
                  <a:pt x="4959784" y="3092668"/>
                </a:lnTo>
                <a:lnTo>
                  <a:pt x="0" y="30926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975575" y="5239851"/>
            <a:ext cx="4365991" cy="3114727"/>
          </a:xfrm>
          <a:prstGeom prst="rect">
            <a:avLst/>
          </a:prstGeom>
        </p:spPr>
        <p:txBody>
          <a:bodyPr anchor="t" rtlCol="false" tIns="0" lIns="0" bIns="0" rIns="0">
            <a:spAutoFit/>
          </a:bodyPr>
          <a:lstStyle/>
          <a:p>
            <a:pPr algn="ctr">
              <a:lnSpc>
                <a:spcPts val="4197"/>
              </a:lnSpc>
              <a:spcBef>
                <a:spcPct val="0"/>
              </a:spcBef>
            </a:pPr>
            <a:r>
              <a:rPr lang="en-US" sz="2997">
                <a:solidFill>
                  <a:srgbClr val="000000"/>
                </a:solidFill>
                <a:latin typeface="Open Sans"/>
                <a:ea typeface="Open Sans"/>
                <a:cs typeface="Open Sans"/>
                <a:sym typeface="Open Sans"/>
              </a:rPr>
              <a:t>In the section on the purpose of the focus session, it </a:t>
            </a:r>
            <a:r>
              <a:rPr lang="en-US" b="true" sz="2997">
                <a:solidFill>
                  <a:srgbClr val="000000"/>
                </a:solidFill>
                <a:latin typeface="Open Sans Bold"/>
                <a:ea typeface="Open Sans Bold"/>
                <a:cs typeface="Open Sans Bold"/>
                <a:sym typeface="Open Sans Bold"/>
              </a:rPr>
              <a:t>is not possible to make selections or write anything.</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9902C"/>
        </a:solidFill>
      </p:bgPr>
    </p:bg>
    <p:spTree>
      <p:nvGrpSpPr>
        <p:cNvPr id="1" name=""/>
        <p:cNvGrpSpPr/>
        <p:nvPr/>
      </p:nvGrpSpPr>
      <p:grpSpPr>
        <a:xfrm>
          <a:off x="0" y="0"/>
          <a:ext cx="0" cy="0"/>
          <a:chOff x="0" y="0"/>
          <a:chExt cx="0" cy="0"/>
        </a:xfrm>
      </p:grpSpPr>
      <p:sp>
        <p:nvSpPr>
          <p:cNvPr name="Freeform 2" id="2"/>
          <p:cNvSpPr/>
          <p:nvPr/>
        </p:nvSpPr>
        <p:spPr>
          <a:xfrm flipH="false" flipV="false" rot="0">
            <a:off x="1527806" y="4350868"/>
            <a:ext cx="9325087" cy="1585265"/>
          </a:xfrm>
          <a:custGeom>
            <a:avLst/>
            <a:gdLst/>
            <a:ahLst/>
            <a:cxnLst/>
            <a:rect r="r" b="b" t="t" l="l"/>
            <a:pathLst>
              <a:path h="1585265" w="9325087">
                <a:moveTo>
                  <a:pt x="0" y="0"/>
                </a:moveTo>
                <a:lnTo>
                  <a:pt x="9325087" y="0"/>
                </a:lnTo>
                <a:lnTo>
                  <a:pt x="9325087" y="1585264"/>
                </a:lnTo>
                <a:lnTo>
                  <a:pt x="0" y="1585264"/>
                </a:lnTo>
                <a:lnTo>
                  <a:pt x="0" y="0"/>
                </a:lnTo>
                <a:close/>
              </a:path>
            </a:pathLst>
          </a:custGeom>
          <a:blipFill>
            <a:blip r:embed="rId2"/>
            <a:stretch>
              <a:fillRect l="0" t="0" r="0" b="0"/>
            </a:stretch>
          </a:blipFill>
        </p:spPr>
      </p:sp>
      <p:sp>
        <p:nvSpPr>
          <p:cNvPr name="Freeform 3" id="3"/>
          <p:cNvSpPr/>
          <p:nvPr/>
        </p:nvSpPr>
        <p:spPr>
          <a:xfrm flipH="false" flipV="false" rot="0">
            <a:off x="11131411" y="3101248"/>
            <a:ext cx="5785478" cy="5669769"/>
          </a:xfrm>
          <a:custGeom>
            <a:avLst/>
            <a:gdLst/>
            <a:ahLst/>
            <a:cxnLst/>
            <a:rect r="r" b="b" t="t" l="l"/>
            <a:pathLst>
              <a:path h="5669769" w="5785478">
                <a:moveTo>
                  <a:pt x="0" y="0"/>
                </a:moveTo>
                <a:lnTo>
                  <a:pt x="5785479" y="0"/>
                </a:lnTo>
                <a:lnTo>
                  <a:pt x="5785479" y="5669769"/>
                </a:lnTo>
                <a:lnTo>
                  <a:pt x="0" y="56697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1672110" y="3596197"/>
            <a:ext cx="4704081" cy="4180841"/>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Open Sans"/>
                <a:ea typeface="Open Sans"/>
                <a:cs typeface="Open Sans"/>
                <a:sym typeface="Open Sans"/>
              </a:rPr>
              <a:t>It has bugs, as there are times when a </a:t>
            </a:r>
            <a:r>
              <a:rPr lang="en-US" b="true" sz="3399">
                <a:solidFill>
                  <a:srgbClr val="000000"/>
                </a:solidFill>
                <a:latin typeface="Open Sans Bold"/>
                <a:ea typeface="Open Sans Bold"/>
                <a:cs typeface="Open Sans Bold"/>
                <a:sym typeface="Open Sans Bold"/>
              </a:rPr>
              <a:t>block has not been set</a:t>
            </a:r>
            <a:r>
              <a:rPr lang="en-US" sz="3399">
                <a:solidFill>
                  <a:srgbClr val="000000"/>
                </a:solidFill>
                <a:latin typeface="Open Sans"/>
                <a:ea typeface="Open Sans"/>
                <a:cs typeface="Open Sans"/>
                <a:sym typeface="Open Sans"/>
              </a:rPr>
              <a:t>, and the app gives you the </a:t>
            </a:r>
            <a:r>
              <a:rPr lang="en-US" b="true" sz="3399">
                <a:solidFill>
                  <a:srgbClr val="000000"/>
                </a:solidFill>
                <a:latin typeface="Open Sans Bold"/>
                <a:ea typeface="Open Sans Bold"/>
                <a:cs typeface="Open Sans Bold"/>
                <a:sym typeface="Open Sans Bold"/>
              </a:rPr>
              <a:t>option to stop it even if you haven't programmed it.</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9902C"/>
        </a:solidFill>
      </p:bgPr>
    </p:bg>
    <p:spTree>
      <p:nvGrpSpPr>
        <p:cNvPr id="1" name=""/>
        <p:cNvGrpSpPr/>
        <p:nvPr/>
      </p:nvGrpSpPr>
      <p:grpSpPr>
        <a:xfrm>
          <a:off x="0" y="0"/>
          <a:ext cx="0" cy="0"/>
          <a:chOff x="0" y="0"/>
          <a:chExt cx="0" cy="0"/>
        </a:xfrm>
      </p:grpSpPr>
      <p:sp>
        <p:nvSpPr>
          <p:cNvPr name="Freeform 2" id="2"/>
          <p:cNvSpPr/>
          <p:nvPr/>
        </p:nvSpPr>
        <p:spPr>
          <a:xfrm flipH="false" flipV="false" rot="0">
            <a:off x="636535" y="427585"/>
            <a:ext cx="9412255" cy="5399872"/>
          </a:xfrm>
          <a:custGeom>
            <a:avLst/>
            <a:gdLst/>
            <a:ahLst/>
            <a:cxnLst/>
            <a:rect r="r" b="b" t="t" l="l"/>
            <a:pathLst>
              <a:path h="5399872" w="9412255">
                <a:moveTo>
                  <a:pt x="0" y="0"/>
                </a:moveTo>
                <a:lnTo>
                  <a:pt x="9412255" y="0"/>
                </a:lnTo>
                <a:lnTo>
                  <a:pt x="9412255" y="5399872"/>
                </a:lnTo>
                <a:lnTo>
                  <a:pt x="0" y="5399872"/>
                </a:lnTo>
                <a:lnTo>
                  <a:pt x="0" y="0"/>
                </a:lnTo>
                <a:close/>
              </a:path>
            </a:pathLst>
          </a:custGeom>
          <a:blipFill>
            <a:blip r:embed="rId2"/>
            <a:stretch>
              <a:fillRect l="0" t="0" r="-3260" b="-5068"/>
            </a:stretch>
          </a:blipFill>
        </p:spPr>
      </p:sp>
      <p:sp>
        <p:nvSpPr>
          <p:cNvPr name="Freeform 3" id="3"/>
          <p:cNvSpPr/>
          <p:nvPr/>
        </p:nvSpPr>
        <p:spPr>
          <a:xfrm flipH="false" flipV="false" rot="0">
            <a:off x="10048790" y="1588639"/>
            <a:ext cx="4198776" cy="4114800"/>
          </a:xfrm>
          <a:custGeom>
            <a:avLst/>
            <a:gdLst/>
            <a:ahLst/>
            <a:cxnLst/>
            <a:rect r="r" b="b" t="t" l="l"/>
            <a:pathLst>
              <a:path h="4114800" w="4198776">
                <a:moveTo>
                  <a:pt x="0" y="0"/>
                </a:moveTo>
                <a:lnTo>
                  <a:pt x="4198776" y="0"/>
                </a:lnTo>
                <a:lnTo>
                  <a:pt x="4198776"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323325" y="2138549"/>
            <a:ext cx="3649707" cy="2957831"/>
          </a:xfrm>
          <a:prstGeom prst="rect">
            <a:avLst/>
          </a:prstGeom>
        </p:spPr>
        <p:txBody>
          <a:bodyPr anchor="t" rtlCol="false" tIns="0" lIns="0" bIns="0" rIns="0">
            <a:spAutoFit/>
          </a:bodyPr>
          <a:lstStyle/>
          <a:p>
            <a:pPr algn="ctr">
              <a:lnSpc>
                <a:spcPts val="3919"/>
              </a:lnSpc>
              <a:spcBef>
                <a:spcPct val="0"/>
              </a:spcBef>
            </a:pPr>
            <a:r>
              <a:rPr lang="en-US" sz="2799">
                <a:solidFill>
                  <a:srgbClr val="000000"/>
                </a:solidFill>
                <a:latin typeface="Open Sans"/>
                <a:ea typeface="Open Sans"/>
                <a:cs typeface="Open Sans"/>
                <a:sym typeface="Open Sans"/>
              </a:rPr>
              <a:t>The reading time is too short; the user will probably not take the time to think about it but will act to close it.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9902C"/>
        </a:solidFill>
      </p:bgPr>
    </p:bg>
    <p:spTree>
      <p:nvGrpSpPr>
        <p:cNvPr id="1" name=""/>
        <p:cNvGrpSpPr/>
        <p:nvPr/>
      </p:nvGrpSpPr>
      <p:grpSpPr>
        <a:xfrm>
          <a:off x="0" y="0"/>
          <a:ext cx="0" cy="0"/>
          <a:chOff x="0" y="0"/>
          <a:chExt cx="0" cy="0"/>
        </a:xfrm>
      </p:grpSpPr>
      <p:sp>
        <p:nvSpPr>
          <p:cNvPr name="Freeform 2" id="2"/>
          <p:cNvSpPr/>
          <p:nvPr/>
        </p:nvSpPr>
        <p:spPr>
          <a:xfrm flipH="false" flipV="false" rot="0">
            <a:off x="677956" y="875250"/>
            <a:ext cx="12358037" cy="7888092"/>
          </a:xfrm>
          <a:custGeom>
            <a:avLst/>
            <a:gdLst/>
            <a:ahLst/>
            <a:cxnLst/>
            <a:rect r="r" b="b" t="t" l="l"/>
            <a:pathLst>
              <a:path h="7888092" w="12358037">
                <a:moveTo>
                  <a:pt x="0" y="0"/>
                </a:moveTo>
                <a:lnTo>
                  <a:pt x="12358037" y="0"/>
                </a:lnTo>
                <a:lnTo>
                  <a:pt x="12358037" y="7888092"/>
                </a:lnTo>
                <a:lnTo>
                  <a:pt x="0" y="7888092"/>
                </a:lnTo>
                <a:lnTo>
                  <a:pt x="0" y="0"/>
                </a:lnTo>
                <a:close/>
              </a:path>
            </a:pathLst>
          </a:custGeom>
          <a:blipFill>
            <a:blip r:embed="rId2"/>
            <a:stretch>
              <a:fillRect l="0" t="0" r="0" b="-5358"/>
            </a:stretch>
          </a:blipFill>
        </p:spPr>
      </p:sp>
      <p:sp>
        <p:nvSpPr>
          <p:cNvPr name="Freeform 3" id="3"/>
          <p:cNvSpPr/>
          <p:nvPr/>
        </p:nvSpPr>
        <p:spPr>
          <a:xfrm flipH="false" flipV="false" rot="0">
            <a:off x="11227438" y="3939275"/>
            <a:ext cx="5785478" cy="5669769"/>
          </a:xfrm>
          <a:custGeom>
            <a:avLst/>
            <a:gdLst/>
            <a:ahLst/>
            <a:cxnLst/>
            <a:rect r="r" b="b" t="t" l="l"/>
            <a:pathLst>
              <a:path h="5669769" w="5785478">
                <a:moveTo>
                  <a:pt x="0" y="0"/>
                </a:moveTo>
                <a:lnTo>
                  <a:pt x="5785479" y="0"/>
                </a:lnTo>
                <a:lnTo>
                  <a:pt x="5785479" y="5669769"/>
                </a:lnTo>
                <a:lnTo>
                  <a:pt x="0" y="56697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7675875" y="1778248"/>
            <a:ext cx="3551563" cy="1670858"/>
            <a:chOff x="0" y="0"/>
            <a:chExt cx="935391" cy="440061"/>
          </a:xfrm>
        </p:grpSpPr>
        <p:sp>
          <p:nvSpPr>
            <p:cNvPr name="Freeform 5" id="5"/>
            <p:cNvSpPr/>
            <p:nvPr/>
          </p:nvSpPr>
          <p:spPr>
            <a:xfrm flipH="false" flipV="false" rot="0">
              <a:off x="0" y="0"/>
              <a:ext cx="935391" cy="440061"/>
            </a:xfrm>
            <a:custGeom>
              <a:avLst/>
              <a:gdLst/>
              <a:ahLst/>
              <a:cxnLst/>
              <a:rect r="r" b="b" t="t" l="l"/>
              <a:pathLst>
                <a:path h="440061" w="935391">
                  <a:moveTo>
                    <a:pt x="467696" y="0"/>
                  </a:moveTo>
                  <a:cubicBezTo>
                    <a:pt x="209394" y="0"/>
                    <a:pt x="0" y="98511"/>
                    <a:pt x="0" y="220031"/>
                  </a:cubicBezTo>
                  <a:cubicBezTo>
                    <a:pt x="0" y="341550"/>
                    <a:pt x="209394" y="440061"/>
                    <a:pt x="467696" y="440061"/>
                  </a:cubicBezTo>
                  <a:cubicBezTo>
                    <a:pt x="725997" y="440061"/>
                    <a:pt x="935391" y="341550"/>
                    <a:pt x="935391" y="220031"/>
                  </a:cubicBezTo>
                  <a:cubicBezTo>
                    <a:pt x="935391" y="98511"/>
                    <a:pt x="725997" y="0"/>
                    <a:pt x="467696" y="0"/>
                  </a:cubicBezTo>
                  <a:close/>
                </a:path>
              </a:pathLst>
            </a:custGeom>
            <a:ln w="38100" cap="sq">
              <a:solidFill>
                <a:srgbClr val="000000"/>
              </a:solidFill>
              <a:prstDash val="solid"/>
              <a:miter/>
            </a:ln>
          </p:spPr>
        </p:sp>
        <p:sp>
          <p:nvSpPr>
            <p:cNvPr name="TextBox 6" id="6"/>
            <p:cNvSpPr txBox="true"/>
            <p:nvPr/>
          </p:nvSpPr>
          <p:spPr>
            <a:xfrm>
              <a:off x="87693" y="3156"/>
              <a:ext cx="760005" cy="395650"/>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2700000">
            <a:off x="11153442" y="1752464"/>
            <a:ext cx="2762295" cy="1722426"/>
          </a:xfrm>
          <a:custGeom>
            <a:avLst/>
            <a:gdLst/>
            <a:ahLst/>
            <a:cxnLst/>
            <a:rect r="r" b="b" t="t" l="l"/>
            <a:pathLst>
              <a:path h="1722426" w="2762295">
                <a:moveTo>
                  <a:pt x="0" y="0"/>
                </a:moveTo>
                <a:lnTo>
                  <a:pt x="2762295" y="0"/>
                </a:lnTo>
                <a:lnTo>
                  <a:pt x="2762295" y="1722426"/>
                </a:lnTo>
                <a:lnTo>
                  <a:pt x="0" y="17224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1374630" y="5111411"/>
            <a:ext cx="5491095" cy="3258821"/>
          </a:xfrm>
          <a:prstGeom prst="rect">
            <a:avLst/>
          </a:prstGeom>
        </p:spPr>
        <p:txBody>
          <a:bodyPr anchor="t" rtlCol="false" tIns="0" lIns="0" bIns="0" rIns="0">
            <a:spAutoFit/>
          </a:bodyPr>
          <a:lstStyle/>
          <a:p>
            <a:pPr algn="ctr">
              <a:lnSpc>
                <a:spcPts val="5179"/>
              </a:lnSpc>
              <a:spcBef>
                <a:spcPct val="0"/>
              </a:spcBef>
            </a:pPr>
            <a:r>
              <a:rPr lang="en-US" sz="3699">
                <a:solidFill>
                  <a:srgbClr val="000000"/>
                </a:solidFill>
                <a:latin typeface="Open Sans"/>
                <a:ea typeface="Open Sans"/>
                <a:cs typeface="Open Sans"/>
                <a:sym typeface="Open Sans"/>
              </a:rPr>
              <a:t>The app is very slow, the micro breaks section freezes time and does not change it as the seconds pass.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9902C"/>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620498"/>
            <a:ext cx="7885177" cy="9471106"/>
          </a:xfrm>
          <a:custGeom>
            <a:avLst/>
            <a:gdLst/>
            <a:ahLst/>
            <a:cxnLst/>
            <a:rect r="r" b="b" t="t" l="l"/>
            <a:pathLst>
              <a:path h="9471106" w="7885177">
                <a:moveTo>
                  <a:pt x="0" y="0"/>
                </a:moveTo>
                <a:lnTo>
                  <a:pt x="7885177" y="0"/>
                </a:lnTo>
                <a:lnTo>
                  <a:pt x="7885177" y="9471106"/>
                </a:lnTo>
                <a:lnTo>
                  <a:pt x="0" y="9471106"/>
                </a:lnTo>
                <a:lnTo>
                  <a:pt x="0" y="0"/>
                </a:lnTo>
                <a:close/>
              </a:path>
            </a:pathLst>
          </a:custGeom>
          <a:blipFill>
            <a:blip r:embed="rId2"/>
            <a:stretch>
              <a:fillRect l="0" t="0" r="0" b="0"/>
            </a:stretch>
          </a:blipFill>
        </p:spPr>
      </p:sp>
      <p:sp>
        <p:nvSpPr>
          <p:cNvPr name="Freeform 3" id="3"/>
          <p:cNvSpPr/>
          <p:nvPr/>
        </p:nvSpPr>
        <p:spPr>
          <a:xfrm flipH="false" flipV="false" rot="0">
            <a:off x="10216383" y="2308616"/>
            <a:ext cx="5785478" cy="5669769"/>
          </a:xfrm>
          <a:custGeom>
            <a:avLst/>
            <a:gdLst/>
            <a:ahLst/>
            <a:cxnLst/>
            <a:rect r="r" b="b" t="t" l="l"/>
            <a:pathLst>
              <a:path h="5669769" w="5785478">
                <a:moveTo>
                  <a:pt x="0" y="0"/>
                </a:moveTo>
                <a:lnTo>
                  <a:pt x="5785478" y="0"/>
                </a:lnTo>
                <a:lnTo>
                  <a:pt x="5785478" y="5669768"/>
                </a:lnTo>
                <a:lnTo>
                  <a:pt x="0" y="56697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604577" y="3038935"/>
            <a:ext cx="5009091" cy="4548507"/>
          </a:xfrm>
          <a:prstGeom prst="rect">
            <a:avLst/>
          </a:prstGeom>
        </p:spPr>
        <p:txBody>
          <a:bodyPr anchor="t" rtlCol="false" tIns="0" lIns="0" bIns="0" rIns="0">
            <a:spAutoFit/>
          </a:bodyPr>
          <a:lstStyle/>
          <a:p>
            <a:pPr algn="ctr">
              <a:lnSpc>
                <a:spcPts val="6019"/>
              </a:lnSpc>
              <a:spcBef>
                <a:spcPct val="0"/>
              </a:spcBef>
            </a:pPr>
            <a:r>
              <a:rPr lang="en-US" sz="4299">
                <a:solidFill>
                  <a:srgbClr val="000000"/>
                </a:solidFill>
                <a:latin typeface="Open Sans"/>
                <a:ea typeface="Open Sans"/>
                <a:cs typeface="Open Sans"/>
                <a:sym typeface="Open Sans"/>
              </a:rPr>
              <a:t>The help buttons in the blocking schedule section are not responding.</a:t>
            </a:r>
          </a:p>
          <a:p>
            <a:pPr algn="ctr">
              <a:lnSpc>
                <a:spcPts val="6019"/>
              </a:lnSpc>
              <a:spcBef>
                <a:spcPct val="0"/>
              </a:spcBef>
            </a:pPr>
          </a:p>
        </p:txBody>
      </p:sp>
      <p:grpSp>
        <p:nvGrpSpPr>
          <p:cNvPr name="Group 5" id="5"/>
          <p:cNvGrpSpPr/>
          <p:nvPr/>
        </p:nvGrpSpPr>
        <p:grpSpPr>
          <a:xfrm rot="0">
            <a:off x="2708712" y="7587442"/>
            <a:ext cx="3551563" cy="1670858"/>
            <a:chOff x="0" y="0"/>
            <a:chExt cx="935391" cy="440061"/>
          </a:xfrm>
        </p:grpSpPr>
        <p:sp>
          <p:nvSpPr>
            <p:cNvPr name="Freeform 6" id="6"/>
            <p:cNvSpPr/>
            <p:nvPr/>
          </p:nvSpPr>
          <p:spPr>
            <a:xfrm flipH="false" flipV="false" rot="0">
              <a:off x="0" y="0"/>
              <a:ext cx="935391" cy="440061"/>
            </a:xfrm>
            <a:custGeom>
              <a:avLst/>
              <a:gdLst/>
              <a:ahLst/>
              <a:cxnLst/>
              <a:rect r="r" b="b" t="t" l="l"/>
              <a:pathLst>
                <a:path h="440061" w="935391">
                  <a:moveTo>
                    <a:pt x="467696" y="0"/>
                  </a:moveTo>
                  <a:cubicBezTo>
                    <a:pt x="209394" y="0"/>
                    <a:pt x="0" y="98511"/>
                    <a:pt x="0" y="220031"/>
                  </a:cubicBezTo>
                  <a:cubicBezTo>
                    <a:pt x="0" y="341550"/>
                    <a:pt x="209394" y="440061"/>
                    <a:pt x="467696" y="440061"/>
                  </a:cubicBezTo>
                  <a:cubicBezTo>
                    <a:pt x="725997" y="440061"/>
                    <a:pt x="935391" y="341550"/>
                    <a:pt x="935391" y="220031"/>
                  </a:cubicBezTo>
                  <a:cubicBezTo>
                    <a:pt x="935391" y="98511"/>
                    <a:pt x="725997" y="0"/>
                    <a:pt x="467696" y="0"/>
                  </a:cubicBezTo>
                  <a:close/>
                </a:path>
              </a:pathLst>
            </a:custGeom>
            <a:ln w="38100" cap="sq">
              <a:solidFill>
                <a:srgbClr val="000000"/>
              </a:solidFill>
              <a:prstDash val="solid"/>
              <a:miter/>
            </a:ln>
          </p:spPr>
        </p:sp>
        <p:sp>
          <p:nvSpPr>
            <p:cNvPr name="TextBox 7" id="7"/>
            <p:cNvSpPr txBox="true"/>
            <p:nvPr/>
          </p:nvSpPr>
          <p:spPr>
            <a:xfrm>
              <a:off x="87693" y="3156"/>
              <a:ext cx="760005" cy="39565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9902C"/>
        </a:solidFill>
      </p:bgPr>
    </p:bg>
    <p:spTree>
      <p:nvGrpSpPr>
        <p:cNvPr id="1" name=""/>
        <p:cNvGrpSpPr/>
        <p:nvPr/>
      </p:nvGrpSpPr>
      <p:grpSpPr>
        <a:xfrm>
          <a:off x="0" y="0"/>
          <a:ext cx="0" cy="0"/>
          <a:chOff x="0" y="0"/>
          <a:chExt cx="0" cy="0"/>
        </a:xfrm>
      </p:grpSpPr>
      <p:sp>
        <p:nvSpPr>
          <p:cNvPr name="Freeform 2" id="2"/>
          <p:cNvSpPr/>
          <p:nvPr/>
        </p:nvSpPr>
        <p:spPr>
          <a:xfrm flipH="false" flipV="false" rot="0">
            <a:off x="3810893" y="294542"/>
            <a:ext cx="9895832" cy="9697916"/>
          </a:xfrm>
          <a:custGeom>
            <a:avLst/>
            <a:gdLst/>
            <a:ahLst/>
            <a:cxnLst/>
            <a:rect r="r" b="b" t="t" l="l"/>
            <a:pathLst>
              <a:path h="9697916" w="9895832">
                <a:moveTo>
                  <a:pt x="0" y="0"/>
                </a:moveTo>
                <a:lnTo>
                  <a:pt x="9895832" y="0"/>
                </a:lnTo>
                <a:lnTo>
                  <a:pt x="9895832" y="9697916"/>
                </a:lnTo>
                <a:lnTo>
                  <a:pt x="0" y="96979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256284" y="952500"/>
            <a:ext cx="8358445" cy="8658861"/>
          </a:xfrm>
          <a:prstGeom prst="rect">
            <a:avLst/>
          </a:prstGeom>
        </p:spPr>
        <p:txBody>
          <a:bodyPr anchor="t" rtlCol="false" tIns="0" lIns="0" bIns="0" rIns="0">
            <a:spAutoFit/>
          </a:bodyPr>
          <a:lstStyle/>
          <a:p>
            <a:pPr algn="ctr">
              <a:lnSpc>
                <a:spcPts val="5739"/>
              </a:lnSpc>
              <a:spcBef>
                <a:spcPct val="0"/>
              </a:spcBef>
            </a:pPr>
            <a:r>
              <a:rPr lang="en-US" sz="4099">
                <a:solidFill>
                  <a:srgbClr val="000000"/>
                </a:solidFill>
                <a:latin typeface="Open Sans"/>
                <a:ea typeface="Open Sans"/>
                <a:cs typeface="Open Sans"/>
                <a:sym typeface="Open Sans"/>
              </a:rPr>
              <a:t>These were the observations for the desktop app. It contains several errors that can be corrected. One of the things that stands out most in my opinion is the presentation. As a suggestion, make it more attractive and perhaps dynamic. There are also problems with language selections, and it runs slowly. Otherwise, the other functions work well.</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E9902C"/>
        </a:solidFill>
      </p:bgPr>
    </p:bg>
    <p:spTree>
      <p:nvGrpSpPr>
        <p:cNvPr id="1" name=""/>
        <p:cNvGrpSpPr/>
        <p:nvPr/>
      </p:nvGrpSpPr>
      <p:grpSpPr>
        <a:xfrm>
          <a:off x="0" y="0"/>
          <a:ext cx="0" cy="0"/>
          <a:chOff x="0" y="0"/>
          <a:chExt cx="0" cy="0"/>
        </a:xfrm>
      </p:grpSpPr>
      <p:sp>
        <p:nvSpPr>
          <p:cNvPr name="Freeform 2" id="2"/>
          <p:cNvSpPr/>
          <p:nvPr/>
        </p:nvSpPr>
        <p:spPr>
          <a:xfrm flipH="false" flipV="false" rot="0">
            <a:off x="4182827" y="281026"/>
            <a:ext cx="10470061" cy="10260660"/>
          </a:xfrm>
          <a:custGeom>
            <a:avLst/>
            <a:gdLst/>
            <a:ahLst/>
            <a:cxnLst/>
            <a:rect r="r" b="b" t="t" l="l"/>
            <a:pathLst>
              <a:path h="10260660" w="10470061">
                <a:moveTo>
                  <a:pt x="0" y="0"/>
                </a:moveTo>
                <a:lnTo>
                  <a:pt x="10470061" y="0"/>
                </a:lnTo>
                <a:lnTo>
                  <a:pt x="10470061" y="10260660"/>
                </a:lnTo>
                <a:lnTo>
                  <a:pt x="0" y="102606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663012" y="962025"/>
            <a:ext cx="8961977" cy="9415146"/>
          </a:xfrm>
          <a:prstGeom prst="rect">
            <a:avLst/>
          </a:prstGeom>
        </p:spPr>
        <p:txBody>
          <a:bodyPr anchor="t" rtlCol="false" tIns="0" lIns="0" bIns="0" rIns="0">
            <a:spAutoFit/>
          </a:bodyPr>
          <a:lstStyle/>
          <a:p>
            <a:pPr algn="ctr">
              <a:lnSpc>
                <a:spcPts val="5039"/>
              </a:lnSpc>
              <a:spcBef>
                <a:spcPct val="0"/>
              </a:spcBef>
            </a:pPr>
            <a:r>
              <a:rPr lang="en-US" sz="3599">
                <a:solidFill>
                  <a:srgbClr val="000000"/>
                </a:solidFill>
                <a:latin typeface="Open Sans"/>
                <a:ea typeface="Open Sans"/>
                <a:cs typeface="Open Sans"/>
                <a:sym typeface="Open Sans"/>
              </a:rPr>
              <a:t>The mobile app test worked correctly, the servers are fast, although some AI generation features should include a help section, as the information needed to understand how to use them is not clearly indicated and some users find it confusing. On the other hand, I like the aesthetic presentation of the image, although they could make more attractive innovations in general. Otherwise, I don't see any other issues or recommendations at this time, although the leaderboard could be made optional for users if they wish.</a:t>
            </a:r>
          </a:p>
          <a:p>
            <a:pPr algn="ctr">
              <a:lnSpc>
                <a:spcPts val="3919"/>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DAHCigcK3oQ</dc:identifier>
  <dcterms:modified xsi:type="dcterms:W3CDTF">2011-08-01T06:04:30Z</dcterms:modified>
  <cp:revision>1</cp:revision>
  <dc:title>Windows V. 200.0 Recommendations</dc:title>
</cp:coreProperties>
</file>